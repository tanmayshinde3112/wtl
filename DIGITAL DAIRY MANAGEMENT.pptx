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  <p:sldMasterId id="2147483650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9" r:id="rId14"/>
    <p:sldId id="277" r:id="rId15"/>
    <p:sldId id="278" r:id="rId16"/>
    <p:sldId id="260" r:id="rId17"/>
    <p:sldId id="261" r:id="rId18"/>
    <p:sldId id="262" r:id="rId19"/>
    <p:sldId id="263" r:id="rId20"/>
    <p:sldId id="266" r:id="rId21"/>
    <p:sldId id="267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3840" userDrawn="1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690" y="22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 panose="020F050202020403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FA98D3D7-8E5F-77E9-83BF-12D8BC719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>
            <a:extLst>
              <a:ext uri="{FF2B5EF4-FFF2-40B4-BE49-F238E27FC236}">
                <a16:creationId xmlns:a16="http://schemas.microsoft.com/office/drawing/2014/main" id="{86BE93B4-E3CC-940C-BC15-16A675D8FD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" name="Google Shape;61;p3:notes">
            <a:extLst>
              <a:ext uri="{FF2B5EF4-FFF2-40B4-BE49-F238E27FC236}">
                <a16:creationId xmlns:a16="http://schemas.microsoft.com/office/drawing/2014/main" id="{636A9B6C-9A30-9138-3F08-27CE4858B3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17979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8CE53B02-7E43-FED3-C2EA-C6600D7E8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>
            <a:extLst>
              <a:ext uri="{FF2B5EF4-FFF2-40B4-BE49-F238E27FC236}">
                <a16:creationId xmlns:a16="http://schemas.microsoft.com/office/drawing/2014/main" id="{1B379E1B-C76B-6731-9573-761B6A00D5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" name="Google Shape;61;p3:notes">
            <a:extLst>
              <a:ext uri="{FF2B5EF4-FFF2-40B4-BE49-F238E27FC236}">
                <a16:creationId xmlns:a16="http://schemas.microsoft.com/office/drawing/2014/main" id="{1DC3F3B4-B010-58B6-4DC8-6A6E04A1BF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958424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A2EA06AC-911D-B7C8-FE74-2FB7057AE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>
            <a:extLst>
              <a:ext uri="{FF2B5EF4-FFF2-40B4-BE49-F238E27FC236}">
                <a16:creationId xmlns:a16="http://schemas.microsoft.com/office/drawing/2014/main" id="{9AEBF3DB-4BBA-9BFE-639D-62E33A8A19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" name="Google Shape;61;p3:notes">
            <a:extLst>
              <a:ext uri="{FF2B5EF4-FFF2-40B4-BE49-F238E27FC236}">
                <a16:creationId xmlns:a16="http://schemas.microsoft.com/office/drawing/2014/main" id="{37676681-EF65-61D0-5DC4-54524313F5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673601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6AF52CC5-D700-BDC1-A84F-536E25AFB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>
            <a:extLst>
              <a:ext uri="{FF2B5EF4-FFF2-40B4-BE49-F238E27FC236}">
                <a16:creationId xmlns:a16="http://schemas.microsoft.com/office/drawing/2014/main" id="{FF10735B-C5EE-D46A-2309-5C7CC17286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" name="Google Shape;61;p3:notes">
            <a:extLst>
              <a:ext uri="{FF2B5EF4-FFF2-40B4-BE49-F238E27FC236}">
                <a16:creationId xmlns:a16="http://schemas.microsoft.com/office/drawing/2014/main" id="{71708011-9609-FF26-96C4-B8CFE98BD6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905818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FCAFCBBC-FCB2-2F1E-90C3-2EE4D275B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>
            <a:extLst>
              <a:ext uri="{FF2B5EF4-FFF2-40B4-BE49-F238E27FC236}">
                <a16:creationId xmlns:a16="http://schemas.microsoft.com/office/drawing/2014/main" id="{B532D3CD-ABC6-7AAC-A819-1C701A0BCF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" name="Google Shape;61;p3:notes">
            <a:extLst>
              <a:ext uri="{FF2B5EF4-FFF2-40B4-BE49-F238E27FC236}">
                <a16:creationId xmlns:a16="http://schemas.microsoft.com/office/drawing/2014/main" id="{80EB1406-DF58-1864-267F-DA844F9B2E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679197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8C09EBB5-3E83-7B8A-195F-47F358F58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>
            <a:extLst>
              <a:ext uri="{FF2B5EF4-FFF2-40B4-BE49-F238E27FC236}">
                <a16:creationId xmlns:a16="http://schemas.microsoft.com/office/drawing/2014/main" id="{83AE85EC-1223-3048-208F-C65390795B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" name="Google Shape;61;p3:notes">
            <a:extLst>
              <a:ext uri="{FF2B5EF4-FFF2-40B4-BE49-F238E27FC236}">
                <a16:creationId xmlns:a16="http://schemas.microsoft.com/office/drawing/2014/main" id="{6B28661B-C482-19D6-B538-1EED0E1D75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598402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4BE3C4B2-B907-2F22-FF5D-3972B25DF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>
            <a:extLst>
              <a:ext uri="{FF2B5EF4-FFF2-40B4-BE49-F238E27FC236}">
                <a16:creationId xmlns:a16="http://schemas.microsoft.com/office/drawing/2014/main" id="{9CC34F2B-7C68-79D6-30EC-2197BA670C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" name="Google Shape;61;p3:notes">
            <a:extLst>
              <a:ext uri="{FF2B5EF4-FFF2-40B4-BE49-F238E27FC236}">
                <a16:creationId xmlns:a16="http://schemas.microsoft.com/office/drawing/2014/main" id="{B164E0AC-BA6E-011E-C97B-8E20788DF5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974712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02CB4C1A-5CA4-E17E-CC4E-694E43F82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>
            <a:extLst>
              <a:ext uri="{FF2B5EF4-FFF2-40B4-BE49-F238E27FC236}">
                <a16:creationId xmlns:a16="http://schemas.microsoft.com/office/drawing/2014/main" id="{957D9967-61DE-B0F6-7683-4DFEABF8A0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" name="Google Shape;61;p3:notes">
            <a:extLst>
              <a:ext uri="{FF2B5EF4-FFF2-40B4-BE49-F238E27FC236}">
                <a16:creationId xmlns:a16="http://schemas.microsoft.com/office/drawing/2014/main" id="{2E15D267-142B-9704-8B99-F525801C00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098342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442104A0-71FF-26E3-BE3B-4EC088279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>
            <a:extLst>
              <a:ext uri="{FF2B5EF4-FFF2-40B4-BE49-F238E27FC236}">
                <a16:creationId xmlns:a16="http://schemas.microsoft.com/office/drawing/2014/main" id="{7CBC2D7D-5488-CB4A-858C-8127A77DBE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" name="Google Shape;61;p3:notes">
            <a:extLst>
              <a:ext uri="{FF2B5EF4-FFF2-40B4-BE49-F238E27FC236}">
                <a16:creationId xmlns:a16="http://schemas.microsoft.com/office/drawing/2014/main" id="{A263D0EA-752D-D0B8-941B-492E81A818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924149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EC06CB81-4D62-479E-8C9F-42C2011C5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>
            <a:extLst>
              <a:ext uri="{FF2B5EF4-FFF2-40B4-BE49-F238E27FC236}">
                <a16:creationId xmlns:a16="http://schemas.microsoft.com/office/drawing/2014/main" id="{95717F9E-7D48-D29D-8A14-17FA9B7026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" name="Google Shape;61;p3:notes">
            <a:extLst>
              <a:ext uri="{FF2B5EF4-FFF2-40B4-BE49-F238E27FC236}">
                <a16:creationId xmlns:a16="http://schemas.microsoft.com/office/drawing/2014/main" id="{63FA3E62-2613-7CB6-BC57-0899952A78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228963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8279C64E-2DC2-7CDD-5744-CC0EA11BD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>
            <a:extLst>
              <a:ext uri="{FF2B5EF4-FFF2-40B4-BE49-F238E27FC236}">
                <a16:creationId xmlns:a16="http://schemas.microsoft.com/office/drawing/2014/main" id="{F0C07CC4-7CEF-4072-58E6-E0F3F00DF0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" name="Google Shape;61;p3:notes">
            <a:extLst>
              <a:ext uri="{FF2B5EF4-FFF2-40B4-BE49-F238E27FC236}">
                <a16:creationId xmlns:a16="http://schemas.microsoft.com/office/drawing/2014/main" id="{82B77346-90CE-FA24-6B25-1AFAAE727D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293653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0525C4D2-AA12-08A2-5067-86CF8FE61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>
            <a:extLst>
              <a:ext uri="{FF2B5EF4-FFF2-40B4-BE49-F238E27FC236}">
                <a16:creationId xmlns:a16="http://schemas.microsoft.com/office/drawing/2014/main" id="{5B68C828-8B6B-2E4D-B5D0-3DF39D7844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" name="Google Shape;61;p3:notes">
            <a:extLst>
              <a:ext uri="{FF2B5EF4-FFF2-40B4-BE49-F238E27FC236}">
                <a16:creationId xmlns:a16="http://schemas.microsoft.com/office/drawing/2014/main" id="{20E973C4-4902-1415-EDAE-661F9AC6E7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37769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107C120E-EF42-AB68-408B-6E5D7BEAF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>
            <a:extLst>
              <a:ext uri="{FF2B5EF4-FFF2-40B4-BE49-F238E27FC236}">
                <a16:creationId xmlns:a16="http://schemas.microsoft.com/office/drawing/2014/main" id="{30751CF7-68C8-3434-0C04-6F95B97C33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" name="Google Shape;61;p3:notes">
            <a:extLst>
              <a:ext uri="{FF2B5EF4-FFF2-40B4-BE49-F238E27FC236}">
                <a16:creationId xmlns:a16="http://schemas.microsoft.com/office/drawing/2014/main" id="{282D63DF-F762-EFF8-C0B1-8539234159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9198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A21D0F73-8EFD-0A71-9712-9F6B040E3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>
            <a:extLst>
              <a:ext uri="{FF2B5EF4-FFF2-40B4-BE49-F238E27FC236}">
                <a16:creationId xmlns:a16="http://schemas.microsoft.com/office/drawing/2014/main" id="{9C97C2B1-4FA0-60C1-8C2B-6153F14812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" name="Google Shape;61;p3:notes">
            <a:extLst>
              <a:ext uri="{FF2B5EF4-FFF2-40B4-BE49-F238E27FC236}">
                <a16:creationId xmlns:a16="http://schemas.microsoft.com/office/drawing/2014/main" id="{25A5E3BB-A0EB-F4B2-B005-52BBC9A8AF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274176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C8DD5842-5DA6-ED4E-8BCD-EED4E061C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>
            <a:extLst>
              <a:ext uri="{FF2B5EF4-FFF2-40B4-BE49-F238E27FC236}">
                <a16:creationId xmlns:a16="http://schemas.microsoft.com/office/drawing/2014/main" id="{82F5C6D4-4B7C-4FD4-58F6-89924CB5D0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" name="Google Shape;61;p3:notes">
            <a:extLst>
              <a:ext uri="{FF2B5EF4-FFF2-40B4-BE49-F238E27FC236}">
                <a16:creationId xmlns:a16="http://schemas.microsoft.com/office/drawing/2014/main" id="{6EB4E17E-0C2E-B798-9068-95C7FE797C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142935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4E74B7A4-FD2E-6C2E-9A2F-C559919DF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>
            <a:extLst>
              <a:ext uri="{FF2B5EF4-FFF2-40B4-BE49-F238E27FC236}">
                <a16:creationId xmlns:a16="http://schemas.microsoft.com/office/drawing/2014/main" id="{EEFAB238-75FA-6317-4E7D-4E5B061A1C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" name="Google Shape;61;p3:notes">
            <a:extLst>
              <a:ext uri="{FF2B5EF4-FFF2-40B4-BE49-F238E27FC236}">
                <a16:creationId xmlns:a16="http://schemas.microsoft.com/office/drawing/2014/main" id="{6D0101F6-76FA-A9E0-4003-84CE2152FA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1833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1524000" y="2413000"/>
            <a:ext cx="9144000" cy="1424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ubTitle" idx="1"/>
          </p:nvPr>
        </p:nvSpPr>
        <p:spPr>
          <a:xfrm>
            <a:off x="1524000" y="4686300"/>
            <a:ext cx="9144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dt" idx="10"/>
          </p:nvPr>
        </p:nvSpPr>
        <p:spPr>
          <a:xfrm>
            <a:off x="838200" y="6488112"/>
            <a:ext cx="195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ftr" idx="11"/>
          </p:nvPr>
        </p:nvSpPr>
        <p:spPr>
          <a:xfrm>
            <a:off x="3022600" y="6488112"/>
            <a:ext cx="546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sldNum" idx="12"/>
          </p:nvPr>
        </p:nvSpPr>
        <p:spPr>
          <a:xfrm>
            <a:off x="8610600" y="648811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1021080" y="320675"/>
            <a:ext cx="10515600" cy="552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dt" idx="10"/>
          </p:nvPr>
        </p:nvSpPr>
        <p:spPr>
          <a:xfrm>
            <a:off x="838200" y="6537325"/>
            <a:ext cx="1309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ftr" idx="11"/>
          </p:nvPr>
        </p:nvSpPr>
        <p:spPr>
          <a:xfrm>
            <a:off x="2424112" y="6473825"/>
            <a:ext cx="708025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sldNum" idx="12"/>
          </p:nvPr>
        </p:nvSpPr>
        <p:spPr>
          <a:xfrm>
            <a:off x="9767887" y="6537325"/>
            <a:ext cx="15859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0" y="6532562"/>
            <a:ext cx="12168187" cy="28892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838200" y="176212"/>
            <a:ext cx="11236325" cy="685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" name="Google Shape;12;p1"/>
          <p:cNvCxnSpPr/>
          <p:nvPr/>
        </p:nvCxnSpPr>
        <p:spPr>
          <a:xfrm>
            <a:off x="404812" y="1000125"/>
            <a:ext cx="11669712" cy="0"/>
          </a:xfrm>
          <a:prstGeom prst="straightConnector1">
            <a:avLst/>
          </a:prstGeom>
          <a:noFill/>
          <a:ln w="19050" cap="flat" cmpd="sng">
            <a:solidFill>
              <a:srgbClr val="4472C4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3" name="Google Shape;13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74612"/>
            <a:ext cx="1085850" cy="122396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/>
        </p:nvSpPr>
        <p:spPr>
          <a:xfrm>
            <a:off x="1085850" y="228600"/>
            <a:ext cx="11106150" cy="79216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  <a:endParaRPr sz="1400" b="0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200"/>
              <a:buFont typeface="Times New Roman" panose="02020603050405020304"/>
              <a:buNone/>
            </a:pPr>
            <a:r>
              <a:rPr lang="en-US" sz="1200" b="1" i="0" u="none" strike="noStrike" cap="none">
                <a:solidFill>
                  <a:srgbClr val="FFFF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Sanjivani Rural Education Society’s</a:t>
            </a:r>
            <a:br>
              <a:rPr lang="en-US" sz="1200" b="1" i="0" u="none" strike="noStrike" cap="none">
                <a:solidFill>
                  <a:srgbClr val="FFFF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1800" b="1" i="0" u="none" strike="noStrike" cap="none">
                <a:solidFill>
                  <a:srgbClr val="FFFF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Sanjivani College of Engineering, Kopargaon-423 603</a:t>
            </a:r>
            <a:br>
              <a:rPr lang="en-US" sz="1800" b="1" i="0" u="none" strike="noStrike" cap="none">
                <a:solidFill>
                  <a:srgbClr val="FFFF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2000" b="1" i="0" u="none" strike="noStrike" cap="none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Engineering</a:t>
            </a:r>
            <a:br>
              <a:rPr lang="en-US" sz="2400" b="1" i="0" u="none" strike="noStrike" cap="none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1400" b="1" i="0" u="none" strike="noStrike" cap="none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5" name="Google Shape;15;p1"/>
          <p:cNvCxnSpPr/>
          <p:nvPr/>
        </p:nvCxnSpPr>
        <p:spPr>
          <a:xfrm>
            <a:off x="36512" y="6437312"/>
            <a:ext cx="12074525" cy="4762"/>
          </a:xfrm>
          <a:prstGeom prst="straightConnector1">
            <a:avLst/>
          </a:prstGeom>
          <a:noFill/>
          <a:ln w="76200" cap="flat" cmpd="thinThick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" name="Google Shape;1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7" name="Google Shape;1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8" name="Google Shape;18;p1"/>
          <p:cNvSpPr txBox="1">
            <a:spLocks noGrp="1"/>
          </p:cNvSpPr>
          <p:nvPr>
            <p:ph type="dt" idx="10"/>
          </p:nvPr>
        </p:nvSpPr>
        <p:spPr>
          <a:xfrm>
            <a:off x="838200" y="6488112"/>
            <a:ext cx="195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9" name="Google Shape;19;p1"/>
          <p:cNvSpPr txBox="1">
            <a:spLocks noGrp="1"/>
          </p:cNvSpPr>
          <p:nvPr>
            <p:ph type="ftr" idx="11"/>
          </p:nvPr>
        </p:nvSpPr>
        <p:spPr>
          <a:xfrm>
            <a:off x="3022600" y="6488112"/>
            <a:ext cx="546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20" name="Google Shape;20;p1"/>
          <p:cNvSpPr txBox="1">
            <a:spLocks noGrp="1"/>
          </p:cNvSpPr>
          <p:nvPr>
            <p:ph type="sldNum" idx="12"/>
          </p:nvPr>
        </p:nvSpPr>
        <p:spPr>
          <a:xfrm>
            <a:off x="8610600" y="648811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/>
          <p:nvPr/>
        </p:nvSpPr>
        <p:spPr>
          <a:xfrm>
            <a:off x="15875" y="6600825"/>
            <a:ext cx="12131675" cy="215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9" name="Google Shape;29;p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57150"/>
            <a:ext cx="987425" cy="949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" name="Google Shape;30;p3"/>
          <p:cNvCxnSpPr/>
          <p:nvPr/>
        </p:nvCxnSpPr>
        <p:spPr>
          <a:xfrm>
            <a:off x="352425" y="1052512"/>
            <a:ext cx="11668125" cy="0"/>
          </a:xfrm>
          <a:prstGeom prst="straightConnector1">
            <a:avLst/>
          </a:prstGeom>
          <a:noFill/>
          <a:ln w="76200" cap="flat" cmpd="thinThick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" name="Google Shape;31;p3"/>
          <p:cNvCxnSpPr/>
          <p:nvPr/>
        </p:nvCxnSpPr>
        <p:spPr>
          <a:xfrm>
            <a:off x="0" y="6473825"/>
            <a:ext cx="12192000" cy="0"/>
          </a:xfrm>
          <a:prstGeom prst="straightConnector1">
            <a:avLst/>
          </a:prstGeom>
          <a:noFill/>
          <a:ln w="76200" cap="flat" cmpd="thinThick">
            <a:solidFill>
              <a:srgbClr val="00206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dt" idx="10"/>
          </p:nvPr>
        </p:nvSpPr>
        <p:spPr>
          <a:xfrm>
            <a:off x="838200" y="6537325"/>
            <a:ext cx="1309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ftr" idx="11"/>
          </p:nvPr>
        </p:nvSpPr>
        <p:spPr>
          <a:xfrm>
            <a:off x="2424112" y="6473825"/>
            <a:ext cx="708025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sldNum" idx="12"/>
          </p:nvPr>
        </p:nvSpPr>
        <p:spPr>
          <a:xfrm>
            <a:off x="9767887" y="6537325"/>
            <a:ext cx="15859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  <a:defRPr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1692002" y="1119730"/>
            <a:ext cx="8807700" cy="9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Times New Roman" panose="02020603050405020304"/>
              <a:buNone/>
            </a:pPr>
            <a:r>
              <a:rPr lang="en-US" sz="2100" b="1" i="0" u="none" strike="noStrike" cap="none" dirty="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</a:t>
            </a:r>
            <a:endParaRPr sz="2100" b="1" i="0" u="none" strike="noStrike" cap="none" dirty="0">
              <a:solidFill>
                <a:srgbClr val="0000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Times New Roman" panose="02020603050405020304"/>
              <a:buNone/>
            </a:pPr>
            <a:r>
              <a:rPr lang="en-US" sz="2100" b="1" i="0" u="none" strike="noStrike" cap="none" dirty="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Presentation </a:t>
            </a:r>
            <a:endParaRPr sz="2100" b="1" i="0" u="none" strike="noStrike" cap="none" dirty="0">
              <a:solidFill>
                <a:srgbClr val="0000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Times New Roman" panose="02020603050405020304"/>
              <a:buNone/>
            </a:pPr>
            <a:r>
              <a:rPr lang="en-US" sz="2100" b="1" i="0" u="none" strike="noStrike" cap="none" dirty="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On </a:t>
            </a:r>
            <a:endParaRPr sz="2100" b="1" i="0" u="none" strike="noStrike" cap="none" dirty="0">
              <a:solidFill>
                <a:srgbClr val="0000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Times New Roman" panose="02020603050405020304"/>
              <a:buNone/>
            </a:pPr>
            <a:r>
              <a:rPr lang="en-US" sz="2200" b="1" dirty="0">
                <a:solidFill>
                  <a:srgbClr val="9900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Web Technology Lab</a:t>
            </a:r>
            <a:endParaRPr sz="2200" b="1" i="0" u="none" strike="noStrike" cap="none" dirty="0">
              <a:solidFill>
                <a:srgbClr val="9900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Times New Roman" panose="02020603050405020304"/>
              <a:buNone/>
            </a:pPr>
            <a:r>
              <a:rPr lang="en-US" sz="2800" b="1" dirty="0">
                <a:solidFill>
                  <a:srgbClr val="0B53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Digital Dairy Farm Manager</a:t>
            </a:r>
            <a:endParaRPr sz="2800" b="1" i="0" u="none" strike="noStrike" cap="none" dirty="0">
              <a:solidFill>
                <a:srgbClr val="0000FF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2398395" y="5597525"/>
            <a:ext cx="73962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imes New Roman" panose="02020603050405020304"/>
              <a:buNone/>
            </a:pPr>
            <a:r>
              <a:rPr lang="en-US" sz="24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Engineering</a:t>
            </a:r>
            <a:endParaRPr sz="2400" b="1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Times New Roman" panose="02020603050405020304"/>
              <a:buNone/>
            </a:pPr>
            <a:r>
              <a:rPr lang="en-US" sz="24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TY</a:t>
            </a:r>
            <a:r>
              <a:rPr lang="en-US" sz="24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B Tech 202</a:t>
            </a:r>
            <a:r>
              <a:rPr lang="en-US" sz="24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r>
              <a:rPr lang="en-US" sz="24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-2</a:t>
            </a:r>
            <a:r>
              <a:rPr lang="en-US" sz="24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</a:t>
            </a:r>
            <a:r>
              <a:rPr lang="en-US" sz="24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SEM </a:t>
            </a:r>
            <a:r>
              <a:rPr lang="en-US" sz="24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</a:t>
            </a:r>
            <a:r>
              <a:rPr lang="en-US" sz="24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400" b="1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3368102" y="3104723"/>
            <a:ext cx="5455500" cy="2273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2800" b="1" i="0" u="none" strike="noStrike" cap="none" dirty="0">
                <a:solidFill>
                  <a:srgbClr val="98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Presented by</a:t>
            </a:r>
            <a:endParaRPr sz="2800" b="1" i="0" u="none" strike="noStrike" cap="none" dirty="0">
              <a:solidFill>
                <a:srgbClr val="98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endParaRPr sz="2800" b="1" dirty="0">
              <a:solidFill>
                <a:srgbClr val="98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dirty="0">
                <a:solidFill>
                  <a:srgbClr val="0B53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Harshwardhan </a:t>
            </a:r>
            <a:r>
              <a:rPr lang="en-US" sz="2000" b="1" dirty="0" err="1">
                <a:solidFill>
                  <a:srgbClr val="0B53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Zalte</a:t>
            </a:r>
            <a:r>
              <a:rPr lang="en-US" sz="2000" b="1" dirty="0">
                <a:solidFill>
                  <a:srgbClr val="0B53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[UCS23M1137]</a:t>
            </a:r>
            <a:r>
              <a:rPr lang="en-US" sz="2000" b="1" i="0" u="none" strike="noStrike" cap="none" dirty="0">
                <a:solidFill>
                  <a:srgbClr val="0B53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dirty="0">
                <a:solidFill>
                  <a:srgbClr val="0B53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Prasad </a:t>
            </a:r>
            <a:r>
              <a:rPr lang="en-US" sz="2000" b="1" dirty="0" err="1">
                <a:solidFill>
                  <a:srgbClr val="0B53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Waghmode</a:t>
            </a:r>
            <a:r>
              <a:rPr lang="en-US" sz="2000" b="1" dirty="0">
                <a:solidFill>
                  <a:srgbClr val="0B53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[UCS23M1131] 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dirty="0">
                <a:solidFill>
                  <a:srgbClr val="0B53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Tanmay Shinde	           [</a:t>
            </a:r>
            <a:r>
              <a:rPr lang="en-US" altLang="en-US" sz="2000" b="1" dirty="0">
                <a:solidFill>
                  <a:srgbClr val="0B53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0124UCSM2014</a:t>
            </a:r>
            <a:r>
              <a:rPr lang="en-US" sz="2000" b="1" dirty="0">
                <a:solidFill>
                  <a:srgbClr val="0B53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] 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dirty="0">
                <a:solidFill>
                  <a:srgbClr val="0B539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Rohan Walke	           [UCS23M1133] </a:t>
            </a:r>
            <a:endParaRPr sz="2000" b="1" i="0" u="none" strike="noStrike" cap="none" dirty="0">
              <a:solidFill>
                <a:srgbClr val="0B5394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 txBox="1">
            <a:spLocks noGrp="1"/>
          </p:cNvSpPr>
          <p:nvPr>
            <p:ph type="title"/>
          </p:nvPr>
        </p:nvSpPr>
        <p:spPr>
          <a:xfrm>
            <a:off x="706132" y="292800"/>
            <a:ext cx="105156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200"/>
              <a:buFont typeface="Calibri" panose="020F0502020204030204"/>
              <a:buNone/>
            </a:pPr>
            <a:r>
              <a:rPr lang="en-US" sz="320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Client Details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838200" y="6537325"/>
            <a:ext cx="1309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2424112" y="6473825"/>
            <a:ext cx="708025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COMPUTER ENGINEERING,  Sanjivani COE, Kopargaon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7" name="Google Shape;57;p6"/>
          <p:cNvSpPr txBox="1"/>
          <p:nvPr/>
        </p:nvSpPr>
        <p:spPr>
          <a:xfrm>
            <a:off x="9767887" y="6537325"/>
            <a:ext cx="15859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8" name="Google Shape;58;p6"/>
          <p:cNvSpPr txBox="1"/>
          <p:nvPr/>
        </p:nvSpPr>
        <p:spPr>
          <a:xfrm>
            <a:off x="838204" y="1756850"/>
            <a:ext cx="9363969" cy="2874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0" indent="-457200">
              <a:lnSpc>
                <a:spcPct val="115000"/>
              </a:lnSpc>
              <a:buFont typeface="+mj-lt"/>
              <a:buAutoNum type="arabicPeriod"/>
            </a:pPr>
            <a:r>
              <a:rPr lang="en-US" sz="19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Client Name</a:t>
            </a:r>
            <a:r>
              <a:rPr lang="en-US" sz="19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- Samadhan </a:t>
            </a:r>
            <a:r>
              <a:rPr lang="en-US" sz="19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Trayambak</a:t>
            </a:r>
            <a:r>
              <a:rPr lang="en-US" sz="19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 </a:t>
            </a:r>
            <a:r>
              <a:rPr lang="en-US" sz="19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Hasale</a:t>
            </a:r>
            <a:r>
              <a:rPr lang="en-US" sz="19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</a:p>
          <a:p>
            <a:pPr marL="914400" lvl="0" indent="-457200">
              <a:lnSpc>
                <a:spcPct val="115000"/>
              </a:lnSpc>
              <a:buFont typeface="+mj-lt"/>
              <a:buAutoNum type="arabicPeriod"/>
            </a:pPr>
            <a:endParaRPr lang="en-US" sz="190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914400" lvl="0" indent="-457200">
              <a:lnSpc>
                <a:spcPct val="115000"/>
              </a:lnSpc>
              <a:buFont typeface="+mj-lt"/>
              <a:buAutoNum type="arabicPeriod"/>
            </a:pPr>
            <a:r>
              <a:rPr lang="en-US" sz="19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Occupation</a:t>
            </a:r>
            <a:r>
              <a:rPr lang="en-US" sz="19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-   Farmer and Dairy Business.</a:t>
            </a:r>
          </a:p>
          <a:p>
            <a:pPr marL="457200" lvl="0">
              <a:lnSpc>
                <a:spcPct val="115000"/>
              </a:lnSpc>
            </a:pPr>
            <a:endParaRPr lang="en-US" sz="19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>
              <a:lnSpc>
                <a:spcPct val="115000"/>
              </a:lnSpc>
            </a:pPr>
            <a:r>
              <a:rPr lang="en-US" sz="19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     Address </a:t>
            </a:r>
            <a:r>
              <a:rPr lang="en-US" sz="19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-   </a:t>
            </a:r>
            <a:r>
              <a:rPr lang="en-US" sz="19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Mirgaon</a:t>
            </a:r>
            <a:r>
              <a:rPr lang="en-US" sz="19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, Tal : Sinner , </a:t>
            </a:r>
            <a:r>
              <a:rPr lang="en-US" sz="19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Dist</a:t>
            </a:r>
            <a:r>
              <a:rPr lang="en-US" sz="19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: Nashik , Maharashtra 422104</a:t>
            </a:r>
            <a:br>
              <a:rPr lang="en-US" sz="19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19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19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sz="190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705972" y="355975"/>
            <a:ext cx="105156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Calibri" panose="020F0502020204030204"/>
              <a:buNone/>
            </a:pPr>
            <a:r>
              <a:rPr lang="en-US" sz="280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Client Requirements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4" name="Google Shape;64;p7"/>
          <p:cNvSpPr txBox="1"/>
          <p:nvPr/>
        </p:nvSpPr>
        <p:spPr>
          <a:xfrm>
            <a:off x="838200" y="6537325"/>
            <a:ext cx="1309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" name="Google Shape;65;p7"/>
          <p:cNvSpPr txBox="1"/>
          <p:nvPr/>
        </p:nvSpPr>
        <p:spPr>
          <a:xfrm>
            <a:off x="2424112" y="6473825"/>
            <a:ext cx="708025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COMPUTER ENGINEERING,  Sanjivani COE, Kopargaon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9767887" y="6537325"/>
            <a:ext cx="15859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1235226" y="1595957"/>
            <a:ext cx="7887600" cy="2068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Client is a Dairy Business Owner.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Dairy Farm Manager who needs a system to digitally manage daily dairy operations and reduce manual record-keeping.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Font typeface="Times New Roman" panose="02020603050405020304"/>
              <a:buChar char="●"/>
            </a:pPr>
            <a:endParaRPr sz="160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"/>
          <p:cNvSpPr txBox="1">
            <a:spLocks noGrp="1"/>
          </p:cNvSpPr>
          <p:nvPr>
            <p:ph type="title"/>
          </p:nvPr>
        </p:nvSpPr>
        <p:spPr>
          <a:xfrm>
            <a:off x="706132" y="249637"/>
            <a:ext cx="105156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Calibri" panose="020F0502020204030204"/>
              <a:buNone/>
            </a:pPr>
            <a:r>
              <a:rPr lang="en-US" sz="2800" dirty="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Functional Requirement </a:t>
            </a: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3" name="Google Shape;73;p8"/>
          <p:cNvSpPr txBox="1"/>
          <p:nvPr/>
        </p:nvSpPr>
        <p:spPr>
          <a:xfrm>
            <a:off x="838200" y="6537325"/>
            <a:ext cx="1309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4" name="Google Shape;74;p8"/>
          <p:cNvSpPr txBox="1"/>
          <p:nvPr/>
        </p:nvSpPr>
        <p:spPr>
          <a:xfrm>
            <a:off x="2424112" y="6473825"/>
            <a:ext cx="708025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COMPUTER ENGINEERING,  Sanjivani COE, Kopargaon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5" name="Google Shape;75;p8"/>
          <p:cNvSpPr txBox="1"/>
          <p:nvPr/>
        </p:nvSpPr>
        <p:spPr>
          <a:xfrm>
            <a:off x="9767887" y="6537325"/>
            <a:ext cx="15859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C0323B-EC7B-A4DE-B6D3-3A9951037D25}"/>
              </a:ext>
            </a:extLst>
          </p:cNvPr>
          <p:cNvSpPr txBox="1"/>
          <p:nvPr/>
        </p:nvSpPr>
        <p:spPr>
          <a:xfrm>
            <a:off x="528976" y="1717087"/>
            <a:ext cx="1166302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Customer Management</a:t>
            </a:r>
            <a:r>
              <a:rPr lang="en-US" sz="1600" dirty="0"/>
              <a:t>: Maintain customer profiles with name, milk type (Cow/Buffalo), daily milk quantity, contact number, and address.</a:t>
            </a:r>
          </a:p>
          <a:p>
            <a:pPr marL="285750" indent="-285750">
              <a:buFontTx/>
              <a:buChar char="-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Milk Collection Management</a:t>
            </a:r>
            <a:r>
              <a:rPr lang="en-US" sz="1600" dirty="0"/>
              <a:t>: Record daily milk collection from farmers, including quantity, fat %, quality testing results, and purchase rate per </a:t>
            </a:r>
            <a:r>
              <a:rPr lang="en-US" sz="1600" dirty="0" err="1"/>
              <a:t>litre</a:t>
            </a:r>
            <a:r>
              <a:rPr lang="en-US" sz="1600" dirty="0"/>
              <a:t>.</a:t>
            </a:r>
          </a:p>
          <a:p>
            <a:pPr marL="285750" indent="-285750">
              <a:buFontTx/>
              <a:buChar char="-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Milk Supply Tracking </a:t>
            </a:r>
            <a:r>
              <a:rPr lang="en-US" sz="1600" dirty="0"/>
              <a:t>(Internal Distribution): Track daily milk allocation/supply to customers, local shops, hotels, or distributors (only recording, no delivery system).</a:t>
            </a:r>
          </a:p>
          <a:p>
            <a:pPr marL="285750" indent="-285750">
              <a:buFontTx/>
              <a:buChar char="-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Inventory &amp; Stock Management</a:t>
            </a:r>
            <a:r>
              <a:rPr lang="en-US" sz="1600" dirty="0"/>
              <a:t>: Track stock of milk, packaging materials, starter culture, and dairy products such as curd, paneer, ghee, butter, etc.</a:t>
            </a:r>
          </a:p>
          <a:p>
            <a:pPr marL="285750" indent="-285750">
              <a:buFontTx/>
              <a:buChar char="-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Farmer/Vendor Management</a:t>
            </a:r>
            <a:r>
              <a:rPr lang="en-US" sz="1600" dirty="0"/>
              <a:t>: Manage farmer details, milk supply logs, rates, and monthly milk purchase summary.</a:t>
            </a:r>
          </a:p>
          <a:p>
            <a:pPr marL="285750" indent="-285750">
              <a:buFontTx/>
              <a:buChar char="-"/>
            </a:pPr>
            <a:endParaRPr lang="en-IN" sz="1600" dirty="0"/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Report Generation</a:t>
            </a:r>
            <a:r>
              <a:rPr lang="en-US" sz="1600" dirty="0"/>
              <a:t>: Generate daily/weekly/monthly reports for milk collection, milk supplied, and inventory usage.</a:t>
            </a:r>
            <a:endParaRPr lang="en-IN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31BB9700-FA68-364D-9873-3F4F767CE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>
            <a:extLst>
              <a:ext uri="{FF2B5EF4-FFF2-40B4-BE49-F238E27FC236}">
                <a16:creationId xmlns:a16="http://schemas.microsoft.com/office/drawing/2014/main" id="{63062DD3-8AEE-615B-8609-6C33BF90E8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5972" y="355975"/>
            <a:ext cx="105156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0000FF"/>
              </a:buClr>
              <a:buSzPts val="2800"/>
            </a:pPr>
            <a:r>
              <a:rPr lang="en-US" sz="2800" dirty="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System Flow</a:t>
            </a: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4" name="Google Shape;64;p7">
            <a:extLst>
              <a:ext uri="{FF2B5EF4-FFF2-40B4-BE49-F238E27FC236}">
                <a16:creationId xmlns:a16="http://schemas.microsoft.com/office/drawing/2014/main" id="{0296C06B-983B-3D87-6D53-C64D4B4D034E}"/>
              </a:ext>
            </a:extLst>
          </p:cNvPr>
          <p:cNvSpPr txBox="1"/>
          <p:nvPr/>
        </p:nvSpPr>
        <p:spPr>
          <a:xfrm>
            <a:off x="838200" y="6537325"/>
            <a:ext cx="1309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" name="Google Shape;65;p7">
            <a:extLst>
              <a:ext uri="{FF2B5EF4-FFF2-40B4-BE49-F238E27FC236}">
                <a16:creationId xmlns:a16="http://schemas.microsoft.com/office/drawing/2014/main" id="{8CDC6201-2BE6-B8DB-E622-1325DB9495DA}"/>
              </a:ext>
            </a:extLst>
          </p:cNvPr>
          <p:cNvSpPr txBox="1"/>
          <p:nvPr/>
        </p:nvSpPr>
        <p:spPr>
          <a:xfrm>
            <a:off x="2424112" y="6473825"/>
            <a:ext cx="708025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COMPUTER ENGINEERING,  Sanjivani COE, Kopargaon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" name="Google Shape;66;p7">
            <a:extLst>
              <a:ext uri="{FF2B5EF4-FFF2-40B4-BE49-F238E27FC236}">
                <a16:creationId xmlns:a16="http://schemas.microsoft.com/office/drawing/2014/main" id="{D709394A-BDCD-2D4A-44FF-E091346F1075}"/>
              </a:ext>
            </a:extLst>
          </p:cNvPr>
          <p:cNvSpPr txBox="1"/>
          <p:nvPr/>
        </p:nvSpPr>
        <p:spPr>
          <a:xfrm>
            <a:off x="9767887" y="6537325"/>
            <a:ext cx="15859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" name="Google Shape;67;p7">
            <a:extLst>
              <a:ext uri="{FF2B5EF4-FFF2-40B4-BE49-F238E27FC236}">
                <a16:creationId xmlns:a16="http://schemas.microsoft.com/office/drawing/2014/main" id="{98D347E9-5115-15F5-8C67-1C0F74B91FED}"/>
              </a:ext>
            </a:extLst>
          </p:cNvPr>
          <p:cNvSpPr txBox="1"/>
          <p:nvPr/>
        </p:nvSpPr>
        <p:spPr>
          <a:xfrm>
            <a:off x="1235226" y="1595957"/>
            <a:ext cx="78876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Font typeface="Times New Roman" panose="02020603050405020304"/>
              <a:buChar char="●"/>
            </a:pPr>
            <a:endParaRPr sz="160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70226E-A0B1-E0D7-B4E4-F574E363E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861" y="1201947"/>
            <a:ext cx="8098277" cy="515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294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5102F62E-E8DC-C99A-A99E-360608216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>
            <a:extLst>
              <a:ext uri="{FF2B5EF4-FFF2-40B4-BE49-F238E27FC236}">
                <a16:creationId xmlns:a16="http://schemas.microsoft.com/office/drawing/2014/main" id="{D500BC64-BE42-0FE3-4596-BCC247B92B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5972" y="355975"/>
            <a:ext cx="105156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0000FF"/>
              </a:buClr>
              <a:buSzPts val="2800"/>
            </a:pPr>
            <a:r>
              <a:rPr lang="en-US" sz="2800" dirty="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Login  Page</a:t>
            </a: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4" name="Google Shape;64;p7">
            <a:extLst>
              <a:ext uri="{FF2B5EF4-FFF2-40B4-BE49-F238E27FC236}">
                <a16:creationId xmlns:a16="http://schemas.microsoft.com/office/drawing/2014/main" id="{8203F517-D3B1-1088-A93A-B418784B16CF}"/>
              </a:ext>
            </a:extLst>
          </p:cNvPr>
          <p:cNvSpPr txBox="1"/>
          <p:nvPr/>
        </p:nvSpPr>
        <p:spPr>
          <a:xfrm>
            <a:off x="838200" y="6537325"/>
            <a:ext cx="1309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" name="Google Shape;65;p7">
            <a:extLst>
              <a:ext uri="{FF2B5EF4-FFF2-40B4-BE49-F238E27FC236}">
                <a16:creationId xmlns:a16="http://schemas.microsoft.com/office/drawing/2014/main" id="{0DF244D8-605C-5A4B-0966-A72ACFD2009F}"/>
              </a:ext>
            </a:extLst>
          </p:cNvPr>
          <p:cNvSpPr txBox="1"/>
          <p:nvPr/>
        </p:nvSpPr>
        <p:spPr>
          <a:xfrm>
            <a:off x="2424112" y="6473825"/>
            <a:ext cx="708025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COMPUTER ENGINEERING,  Sanjivani COE, Kopargaon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" name="Google Shape;66;p7">
            <a:extLst>
              <a:ext uri="{FF2B5EF4-FFF2-40B4-BE49-F238E27FC236}">
                <a16:creationId xmlns:a16="http://schemas.microsoft.com/office/drawing/2014/main" id="{C4FF1341-B8B6-D647-A0E6-C14003B123BD}"/>
              </a:ext>
            </a:extLst>
          </p:cNvPr>
          <p:cNvSpPr txBox="1"/>
          <p:nvPr/>
        </p:nvSpPr>
        <p:spPr>
          <a:xfrm>
            <a:off x="9767887" y="6537325"/>
            <a:ext cx="15859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" name="Google Shape;67;p7">
            <a:extLst>
              <a:ext uri="{FF2B5EF4-FFF2-40B4-BE49-F238E27FC236}">
                <a16:creationId xmlns:a16="http://schemas.microsoft.com/office/drawing/2014/main" id="{84B958A8-A85D-3786-2F63-ED7599CCFDC7}"/>
              </a:ext>
            </a:extLst>
          </p:cNvPr>
          <p:cNvSpPr txBox="1"/>
          <p:nvPr/>
        </p:nvSpPr>
        <p:spPr>
          <a:xfrm>
            <a:off x="1235226" y="1595957"/>
            <a:ext cx="78876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Font typeface="Times New Roman" panose="02020603050405020304"/>
              <a:buChar char="●"/>
            </a:pPr>
            <a:endParaRPr sz="160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A09BC7-81A9-9811-389A-171006744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92" y="1190977"/>
            <a:ext cx="10255160" cy="502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46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4EAA8B4A-91D0-73B4-959C-D1001A8D3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>
            <a:extLst>
              <a:ext uri="{FF2B5EF4-FFF2-40B4-BE49-F238E27FC236}">
                <a16:creationId xmlns:a16="http://schemas.microsoft.com/office/drawing/2014/main" id="{B1F25A65-C9EC-7E94-9A2A-A21359B6F6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5972" y="355975"/>
            <a:ext cx="105156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0000FF"/>
              </a:buClr>
              <a:buSzPts val="2800"/>
            </a:pPr>
            <a:r>
              <a:rPr lang="en-US" sz="2800" dirty="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Admin Dashboard</a:t>
            </a: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4" name="Google Shape;64;p7">
            <a:extLst>
              <a:ext uri="{FF2B5EF4-FFF2-40B4-BE49-F238E27FC236}">
                <a16:creationId xmlns:a16="http://schemas.microsoft.com/office/drawing/2014/main" id="{83E6D6EB-C6EA-A70D-98C1-7D3C9153F42F}"/>
              </a:ext>
            </a:extLst>
          </p:cNvPr>
          <p:cNvSpPr txBox="1"/>
          <p:nvPr/>
        </p:nvSpPr>
        <p:spPr>
          <a:xfrm>
            <a:off x="838200" y="6537325"/>
            <a:ext cx="1309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" name="Google Shape;65;p7">
            <a:extLst>
              <a:ext uri="{FF2B5EF4-FFF2-40B4-BE49-F238E27FC236}">
                <a16:creationId xmlns:a16="http://schemas.microsoft.com/office/drawing/2014/main" id="{202CFCFF-6D33-4AD4-0D17-D615F9234E54}"/>
              </a:ext>
            </a:extLst>
          </p:cNvPr>
          <p:cNvSpPr txBox="1"/>
          <p:nvPr/>
        </p:nvSpPr>
        <p:spPr>
          <a:xfrm>
            <a:off x="2424112" y="6473825"/>
            <a:ext cx="708025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COMPUTER ENGINEERING,  Sanjivani COE, Kopargaon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" name="Google Shape;66;p7">
            <a:extLst>
              <a:ext uri="{FF2B5EF4-FFF2-40B4-BE49-F238E27FC236}">
                <a16:creationId xmlns:a16="http://schemas.microsoft.com/office/drawing/2014/main" id="{6C8B3A4C-F0E5-E200-F82F-29DA89381866}"/>
              </a:ext>
            </a:extLst>
          </p:cNvPr>
          <p:cNvSpPr txBox="1"/>
          <p:nvPr/>
        </p:nvSpPr>
        <p:spPr>
          <a:xfrm>
            <a:off x="9767887" y="6537325"/>
            <a:ext cx="15859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" name="Google Shape;67;p7">
            <a:extLst>
              <a:ext uri="{FF2B5EF4-FFF2-40B4-BE49-F238E27FC236}">
                <a16:creationId xmlns:a16="http://schemas.microsoft.com/office/drawing/2014/main" id="{A2CCA050-151A-2864-C4B3-10C82B395827}"/>
              </a:ext>
            </a:extLst>
          </p:cNvPr>
          <p:cNvSpPr txBox="1"/>
          <p:nvPr/>
        </p:nvSpPr>
        <p:spPr>
          <a:xfrm>
            <a:off x="1235226" y="1595957"/>
            <a:ext cx="78876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Font typeface="Times New Roman" panose="02020603050405020304"/>
              <a:buChar char="●"/>
            </a:pPr>
            <a:endParaRPr sz="160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BE56AD-CC90-B8DC-AA98-8D11A27B1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76709"/>
            <a:ext cx="10261121" cy="513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418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95A8EE45-51D7-9201-9C8F-E41DD00AF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>
            <a:extLst>
              <a:ext uri="{FF2B5EF4-FFF2-40B4-BE49-F238E27FC236}">
                <a16:creationId xmlns:a16="http://schemas.microsoft.com/office/drawing/2014/main" id="{82B52795-E9D9-C776-F9EB-C349689BE5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5972" y="355975"/>
            <a:ext cx="105156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0000FF"/>
              </a:buClr>
              <a:buSzPts val="2800"/>
            </a:pPr>
            <a:r>
              <a:rPr lang="en-US" sz="2800" dirty="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Milk Collection Management</a:t>
            </a: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4" name="Google Shape;64;p7">
            <a:extLst>
              <a:ext uri="{FF2B5EF4-FFF2-40B4-BE49-F238E27FC236}">
                <a16:creationId xmlns:a16="http://schemas.microsoft.com/office/drawing/2014/main" id="{AA7769AE-8448-DC36-218B-21C59E95A4A9}"/>
              </a:ext>
            </a:extLst>
          </p:cNvPr>
          <p:cNvSpPr txBox="1"/>
          <p:nvPr/>
        </p:nvSpPr>
        <p:spPr>
          <a:xfrm>
            <a:off x="838200" y="6537325"/>
            <a:ext cx="1309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" name="Google Shape;65;p7">
            <a:extLst>
              <a:ext uri="{FF2B5EF4-FFF2-40B4-BE49-F238E27FC236}">
                <a16:creationId xmlns:a16="http://schemas.microsoft.com/office/drawing/2014/main" id="{2ACDF758-327C-F3A1-5199-B22CE3E71279}"/>
              </a:ext>
            </a:extLst>
          </p:cNvPr>
          <p:cNvSpPr txBox="1"/>
          <p:nvPr/>
        </p:nvSpPr>
        <p:spPr>
          <a:xfrm>
            <a:off x="2424112" y="6473825"/>
            <a:ext cx="708025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COMPUTER ENGINEERING,  Sanjivani COE, Kopargaon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" name="Google Shape;66;p7">
            <a:extLst>
              <a:ext uri="{FF2B5EF4-FFF2-40B4-BE49-F238E27FC236}">
                <a16:creationId xmlns:a16="http://schemas.microsoft.com/office/drawing/2014/main" id="{5EED5CB0-09F7-9BBB-9A13-2CB856E901FC}"/>
              </a:ext>
            </a:extLst>
          </p:cNvPr>
          <p:cNvSpPr txBox="1"/>
          <p:nvPr/>
        </p:nvSpPr>
        <p:spPr>
          <a:xfrm>
            <a:off x="9767887" y="6537325"/>
            <a:ext cx="15859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" name="Google Shape;67;p7">
            <a:extLst>
              <a:ext uri="{FF2B5EF4-FFF2-40B4-BE49-F238E27FC236}">
                <a16:creationId xmlns:a16="http://schemas.microsoft.com/office/drawing/2014/main" id="{F0981237-FB40-81EF-BE05-B71AF37D0F1B}"/>
              </a:ext>
            </a:extLst>
          </p:cNvPr>
          <p:cNvSpPr txBox="1"/>
          <p:nvPr/>
        </p:nvSpPr>
        <p:spPr>
          <a:xfrm>
            <a:off x="1235226" y="1595957"/>
            <a:ext cx="78876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Font typeface="Times New Roman" panose="02020603050405020304"/>
              <a:buChar char="●"/>
            </a:pPr>
            <a:endParaRPr sz="160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299A73-4976-E0C4-DCF8-B7BB60DC4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42204"/>
            <a:ext cx="10383372" cy="510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913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5D46F83D-D126-7C06-CD10-C2AFE632C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>
            <a:extLst>
              <a:ext uri="{FF2B5EF4-FFF2-40B4-BE49-F238E27FC236}">
                <a16:creationId xmlns:a16="http://schemas.microsoft.com/office/drawing/2014/main" id="{FBC8C351-C6EA-34B1-5D2C-0A9424FE68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5972" y="355975"/>
            <a:ext cx="105156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Calibri" panose="020F0502020204030204"/>
              <a:buNone/>
            </a:pP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4" name="Google Shape;64;p7">
            <a:extLst>
              <a:ext uri="{FF2B5EF4-FFF2-40B4-BE49-F238E27FC236}">
                <a16:creationId xmlns:a16="http://schemas.microsoft.com/office/drawing/2014/main" id="{27891482-ADB7-DD2E-CE3C-45D3C7EA4B60}"/>
              </a:ext>
            </a:extLst>
          </p:cNvPr>
          <p:cNvSpPr txBox="1"/>
          <p:nvPr/>
        </p:nvSpPr>
        <p:spPr>
          <a:xfrm>
            <a:off x="838200" y="6537325"/>
            <a:ext cx="1309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" name="Google Shape;65;p7">
            <a:extLst>
              <a:ext uri="{FF2B5EF4-FFF2-40B4-BE49-F238E27FC236}">
                <a16:creationId xmlns:a16="http://schemas.microsoft.com/office/drawing/2014/main" id="{359BDA97-E612-44B1-C461-E8640D50238A}"/>
              </a:ext>
            </a:extLst>
          </p:cNvPr>
          <p:cNvSpPr txBox="1"/>
          <p:nvPr/>
        </p:nvSpPr>
        <p:spPr>
          <a:xfrm>
            <a:off x="2424112" y="6473825"/>
            <a:ext cx="708025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COMPUTER ENGINEERING,  Sanjivani COE, Kopargaon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" name="Google Shape;66;p7">
            <a:extLst>
              <a:ext uri="{FF2B5EF4-FFF2-40B4-BE49-F238E27FC236}">
                <a16:creationId xmlns:a16="http://schemas.microsoft.com/office/drawing/2014/main" id="{DD6A81A4-B50F-09F3-A30D-F45A6BE01796}"/>
              </a:ext>
            </a:extLst>
          </p:cNvPr>
          <p:cNvSpPr txBox="1"/>
          <p:nvPr/>
        </p:nvSpPr>
        <p:spPr>
          <a:xfrm>
            <a:off x="9767887" y="6537325"/>
            <a:ext cx="15859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" name="Google Shape;67;p7">
            <a:extLst>
              <a:ext uri="{FF2B5EF4-FFF2-40B4-BE49-F238E27FC236}">
                <a16:creationId xmlns:a16="http://schemas.microsoft.com/office/drawing/2014/main" id="{16A0A5B9-F62E-90CF-810B-B2FB795CE135}"/>
              </a:ext>
            </a:extLst>
          </p:cNvPr>
          <p:cNvSpPr txBox="1"/>
          <p:nvPr/>
        </p:nvSpPr>
        <p:spPr>
          <a:xfrm>
            <a:off x="1235226" y="1595957"/>
            <a:ext cx="78876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Font typeface="Times New Roman" panose="02020603050405020304"/>
              <a:buChar char="●"/>
            </a:pPr>
            <a:endParaRPr sz="160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DC21EC-018A-D7D2-4093-45EF3100C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155940"/>
            <a:ext cx="10383373" cy="524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532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1EC9B866-D7FD-3858-2918-66C9ADB13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>
            <a:extLst>
              <a:ext uri="{FF2B5EF4-FFF2-40B4-BE49-F238E27FC236}">
                <a16:creationId xmlns:a16="http://schemas.microsoft.com/office/drawing/2014/main" id="{7215B889-159B-DDE9-C03C-842666C041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5972" y="355975"/>
            <a:ext cx="105156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Calibri" panose="020F0502020204030204"/>
              <a:buNone/>
            </a:pP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4" name="Google Shape;64;p7">
            <a:extLst>
              <a:ext uri="{FF2B5EF4-FFF2-40B4-BE49-F238E27FC236}">
                <a16:creationId xmlns:a16="http://schemas.microsoft.com/office/drawing/2014/main" id="{4D41FC24-7542-55DB-56A0-E82747A01E00}"/>
              </a:ext>
            </a:extLst>
          </p:cNvPr>
          <p:cNvSpPr txBox="1"/>
          <p:nvPr/>
        </p:nvSpPr>
        <p:spPr>
          <a:xfrm>
            <a:off x="838200" y="6537325"/>
            <a:ext cx="1309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" name="Google Shape;65;p7">
            <a:extLst>
              <a:ext uri="{FF2B5EF4-FFF2-40B4-BE49-F238E27FC236}">
                <a16:creationId xmlns:a16="http://schemas.microsoft.com/office/drawing/2014/main" id="{5F36EA14-BDB8-4D80-7035-F7AEA021BDD0}"/>
              </a:ext>
            </a:extLst>
          </p:cNvPr>
          <p:cNvSpPr txBox="1"/>
          <p:nvPr/>
        </p:nvSpPr>
        <p:spPr>
          <a:xfrm>
            <a:off x="2424112" y="6473825"/>
            <a:ext cx="708025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COMPUTER ENGINEERING,  Sanjivani COE, Kopargaon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" name="Google Shape;66;p7">
            <a:extLst>
              <a:ext uri="{FF2B5EF4-FFF2-40B4-BE49-F238E27FC236}">
                <a16:creationId xmlns:a16="http://schemas.microsoft.com/office/drawing/2014/main" id="{AF42D6ED-94A7-BABB-069F-8CC5E8FDF2C4}"/>
              </a:ext>
            </a:extLst>
          </p:cNvPr>
          <p:cNvSpPr txBox="1"/>
          <p:nvPr/>
        </p:nvSpPr>
        <p:spPr>
          <a:xfrm>
            <a:off x="9767887" y="6537325"/>
            <a:ext cx="15859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" name="Google Shape;67;p7">
            <a:extLst>
              <a:ext uri="{FF2B5EF4-FFF2-40B4-BE49-F238E27FC236}">
                <a16:creationId xmlns:a16="http://schemas.microsoft.com/office/drawing/2014/main" id="{F890E00E-4DCF-1905-8309-27168A3DA243}"/>
              </a:ext>
            </a:extLst>
          </p:cNvPr>
          <p:cNvSpPr txBox="1"/>
          <p:nvPr/>
        </p:nvSpPr>
        <p:spPr>
          <a:xfrm>
            <a:off x="1235226" y="1595957"/>
            <a:ext cx="78876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Font typeface="Times New Roman" panose="02020603050405020304"/>
              <a:buChar char="●"/>
            </a:pPr>
            <a:endParaRPr sz="160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DBFF08-93CC-9E18-C622-23980838E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24950"/>
            <a:ext cx="10383372" cy="508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741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95BB1EF3-DEF1-1120-E676-AD5C69E7F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>
            <a:extLst>
              <a:ext uri="{FF2B5EF4-FFF2-40B4-BE49-F238E27FC236}">
                <a16:creationId xmlns:a16="http://schemas.microsoft.com/office/drawing/2014/main" id="{BE62293B-3FA2-F6B1-8090-F4DE23EC03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5972" y="355975"/>
            <a:ext cx="105156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0000FF"/>
              </a:buClr>
              <a:buSzPts val="2800"/>
            </a:pPr>
            <a:r>
              <a:rPr lang="en-US" sz="2800" dirty="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Feed Management System</a:t>
            </a: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4" name="Google Shape;64;p7">
            <a:extLst>
              <a:ext uri="{FF2B5EF4-FFF2-40B4-BE49-F238E27FC236}">
                <a16:creationId xmlns:a16="http://schemas.microsoft.com/office/drawing/2014/main" id="{02A3EB36-7F39-2E16-5120-8AAB115DA882}"/>
              </a:ext>
            </a:extLst>
          </p:cNvPr>
          <p:cNvSpPr txBox="1"/>
          <p:nvPr/>
        </p:nvSpPr>
        <p:spPr>
          <a:xfrm>
            <a:off x="838200" y="6537325"/>
            <a:ext cx="1309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" name="Google Shape;65;p7">
            <a:extLst>
              <a:ext uri="{FF2B5EF4-FFF2-40B4-BE49-F238E27FC236}">
                <a16:creationId xmlns:a16="http://schemas.microsoft.com/office/drawing/2014/main" id="{AF9344C5-E489-6FE5-A417-EFF8EE917137}"/>
              </a:ext>
            </a:extLst>
          </p:cNvPr>
          <p:cNvSpPr txBox="1"/>
          <p:nvPr/>
        </p:nvSpPr>
        <p:spPr>
          <a:xfrm>
            <a:off x="2424112" y="6473825"/>
            <a:ext cx="708025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COMPUTER ENGINEERING,  Sanjivani COE, Kopargaon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" name="Google Shape;66;p7">
            <a:extLst>
              <a:ext uri="{FF2B5EF4-FFF2-40B4-BE49-F238E27FC236}">
                <a16:creationId xmlns:a16="http://schemas.microsoft.com/office/drawing/2014/main" id="{5A8C4F2D-217F-33A3-BF13-332845CC8AE2}"/>
              </a:ext>
            </a:extLst>
          </p:cNvPr>
          <p:cNvSpPr txBox="1"/>
          <p:nvPr/>
        </p:nvSpPr>
        <p:spPr>
          <a:xfrm>
            <a:off x="9767887" y="6537325"/>
            <a:ext cx="15859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" name="Google Shape;67;p7">
            <a:extLst>
              <a:ext uri="{FF2B5EF4-FFF2-40B4-BE49-F238E27FC236}">
                <a16:creationId xmlns:a16="http://schemas.microsoft.com/office/drawing/2014/main" id="{D1058FBD-3A9C-2275-6389-EA0F68E8878C}"/>
              </a:ext>
            </a:extLst>
          </p:cNvPr>
          <p:cNvSpPr txBox="1"/>
          <p:nvPr/>
        </p:nvSpPr>
        <p:spPr>
          <a:xfrm>
            <a:off x="1235226" y="1595957"/>
            <a:ext cx="78876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Font typeface="Times New Roman" panose="02020603050405020304"/>
              <a:buChar char="●"/>
            </a:pPr>
            <a:endParaRPr sz="160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B6A053-BA22-102B-170B-EB808808D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73192"/>
            <a:ext cx="10383372" cy="516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703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BB3A0779-03F7-BB87-E3B4-F24C07D83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>
            <a:extLst>
              <a:ext uri="{FF2B5EF4-FFF2-40B4-BE49-F238E27FC236}">
                <a16:creationId xmlns:a16="http://schemas.microsoft.com/office/drawing/2014/main" id="{38E151B9-69A1-9E98-4219-365271C751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5972" y="355975"/>
            <a:ext cx="105156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Calibri" panose="020F0502020204030204"/>
              <a:buNone/>
            </a:pP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4" name="Google Shape;64;p7">
            <a:extLst>
              <a:ext uri="{FF2B5EF4-FFF2-40B4-BE49-F238E27FC236}">
                <a16:creationId xmlns:a16="http://schemas.microsoft.com/office/drawing/2014/main" id="{E7ABE47F-9838-7CBC-2F5D-A72F14511762}"/>
              </a:ext>
            </a:extLst>
          </p:cNvPr>
          <p:cNvSpPr txBox="1"/>
          <p:nvPr/>
        </p:nvSpPr>
        <p:spPr>
          <a:xfrm>
            <a:off x="838200" y="6537325"/>
            <a:ext cx="1309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" name="Google Shape;65;p7">
            <a:extLst>
              <a:ext uri="{FF2B5EF4-FFF2-40B4-BE49-F238E27FC236}">
                <a16:creationId xmlns:a16="http://schemas.microsoft.com/office/drawing/2014/main" id="{AC27A9C9-7160-046E-34BE-170C76EDEA4A}"/>
              </a:ext>
            </a:extLst>
          </p:cNvPr>
          <p:cNvSpPr txBox="1"/>
          <p:nvPr/>
        </p:nvSpPr>
        <p:spPr>
          <a:xfrm>
            <a:off x="2424112" y="6473825"/>
            <a:ext cx="708025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COMPUTER ENGINEERING,  Sanjivani COE, Kopargaon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" name="Google Shape;66;p7">
            <a:extLst>
              <a:ext uri="{FF2B5EF4-FFF2-40B4-BE49-F238E27FC236}">
                <a16:creationId xmlns:a16="http://schemas.microsoft.com/office/drawing/2014/main" id="{6E9908A4-DEB5-B17F-3DDE-5D17E517A583}"/>
              </a:ext>
            </a:extLst>
          </p:cNvPr>
          <p:cNvSpPr txBox="1"/>
          <p:nvPr/>
        </p:nvSpPr>
        <p:spPr>
          <a:xfrm>
            <a:off x="9767887" y="6537325"/>
            <a:ext cx="15859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" name="Google Shape;67;p7">
            <a:extLst>
              <a:ext uri="{FF2B5EF4-FFF2-40B4-BE49-F238E27FC236}">
                <a16:creationId xmlns:a16="http://schemas.microsoft.com/office/drawing/2014/main" id="{2FC3D89C-CD0D-0226-A330-874C31881BCB}"/>
              </a:ext>
            </a:extLst>
          </p:cNvPr>
          <p:cNvSpPr txBox="1"/>
          <p:nvPr/>
        </p:nvSpPr>
        <p:spPr>
          <a:xfrm>
            <a:off x="1235226" y="1595957"/>
            <a:ext cx="78876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Font typeface="Times New Roman" panose="02020603050405020304"/>
              <a:buChar char="●"/>
            </a:pPr>
            <a:endParaRPr sz="160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D07F11-238C-A5FE-9674-CE8D5CF47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96" y="1161691"/>
            <a:ext cx="10330176" cy="525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435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91938056-D579-B3FD-871B-B700BE154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>
            <a:extLst>
              <a:ext uri="{FF2B5EF4-FFF2-40B4-BE49-F238E27FC236}">
                <a16:creationId xmlns:a16="http://schemas.microsoft.com/office/drawing/2014/main" id="{8DCE1B65-8D9D-3BA7-BAEF-C4A3A46351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5972" y="355975"/>
            <a:ext cx="105156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0000FF"/>
              </a:buClr>
              <a:buSzPts val="2800"/>
            </a:pPr>
            <a:r>
              <a:rPr lang="en-US" sz="2800" dirty="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Farmer Profile Management</a:t>
            </a: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4" name="Google Shape;64;p7">
            <a:extLst>
              <a:ext uri="{FF2B5EF4-FFF2-40B4-BE49-F238E27FC236}">
                <a16:creationId xmlns:a16="http://schemas.microsoft.com/office/drawing/2014/main" id="{CFCB575F-FBAF-ED3B-B0C3-C980BFE5CDF3}"/>
              </a:ext>
            </a:extLst>
          </p:cNvPr>
          <p:cNvSpPr txBox="1"/>
          <p:nvPr/>
        </p:nvSpPr>
        <p:spPr>
          <a:xfrm>
            <a:off x="838200" y="6537325"/>
            <a:ext cx="1309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" name="Google Shape;65;p7">
            <a:extLst>
              <a:ext uri="{FF2B5EF4-FFF2-40B4-BE49-F238E27FC236}">
                <a16:creationId xmlns:a16="http://schemas.microsoft.com/office/drawing/2014/main" id="{0EA3B684-0EB6-D00A-89D9-8BD0A3A25EF2}"/>
              </a:ext>
            </a:extLst>
          </p:cNvPr>
          <p:cNvSpPr txBox="1"/>
          <p:nvPr/>
        </p:nvSpPr>
        <p:spPr>
          <a:xfrm>
            <a:off x="2424112" y="6473825"/>
            <a:ext cx="708025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COMPUTER ENGINEERING,  Sanjivani COE, Kopargaon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" name="Google Shape;66;p7">
            <a:extLst>
              <a:ext uri="{FF2B5EF4-FFF2-40B4-BE49-F238E27FC236}">
                <a16:creationId xmlns:a16="http://schemas.microsoft.com/office/drawing/2014/main" id="{E958D146-C246-5484-9940-A011707DCB23}"/>
              </a:ext>
            </a:extLst>
          </p:cNvPr>
          <p:cNvSpPr txBox="1"/>
          <p:nvPr/>
        </p:nvSpPr>
        <p:spPr>
          <a:xfrm>
            <a:off x="9767887" y="6537325"/>
            <a:ext cx="15859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" name="Google Shape;67;p7">
            <a:extLst>
              <a:ext uri="{FF2B5EF4-FFF2-40B4-BE49-F238E27FC236}">
                <a16:creationId xmlns:a16="http://schemas.microsoft.com/office/drawing/2014/main" id="{7CCEA519-7264-8CBE-2B7C-44499E8F9606}"/>
              </a:ext>
            </a:extLst>
          </p:cNvPr>
          <p:cNvSpPr txBox="1"/>
          <p:nvPr/>
        </p:nvSpPr>
        <p:spPr>
          <a:xfrm>
            <a:off x="1235226" y="1595957"/>
            <a:ext cx="78876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Font typeface="Times New Roman" panose="02020603050405020304"/>
              <a:buChar char="●"/>
            </a:pPr>
            <a:endParaRPr sz="160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602FAE-D2C0-554C-B0EC-5942AABB8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01947"/>
            <a:ext cx="10744200" cy="499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58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B99E86A0-649C-D514-3668-76DF6E29F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>
            <a:extLst>
              <a:ext uri="{FF2B5EF4-FFF2-40B4-BE49-F238E27FC236}">
                <a16:creationId xmlns:a16="http://schemas.microsoft.com/office/drawing/2014/main" id="{3E2865AB-CD45-7C4F-1E1C-A82F52067F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5972" y="355975"/>
            <a:ext cx="105156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Calibri" panose="020F0502020204030204"/>
              <a:buNone/>
            </a:pP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4" name="Google Shape;64;p7">
            <a:extLst>
              <a:ext uri="{FF2B5EF4-FFF2-40B4-BE49-F238E27FC236}">
                <a16:creationId xmlns:a16="http://schemas.microsoft.com/office/drawing/2014/main" id="{DA176445-05CA-59B1-16AC-34A10358912E}"/>
              </a:ext>
            </a:extLst>
          </p:cNvPr>
          <p:cNvSpPr txBox="1"/>
          <p:nvPr/>
        </p:nvSpPr>
        <p:spPr>
          <a:xfrm>
            <a:off x="838200" y="6537325"/>
            <a:ext cx="1309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" name="Google Shape;65;p7">
            <a:extLst>
              <a:ext uri="{FF2B5EF4-FFF2-40B4-BE49-F238E27FC236}">
                <a16:creationId xmlns:a16="http://schemas.microsoft.com/office/drawing/2014/main" id="{FB6FAC7F-C744-EDBD-2E9D-3B6E38EC16BC}"/>
              </a:ext>
            </a:extLst>
          </p:cNvPr>
          <p:cNvSpPr txBox="1"/>
          <p:nvPr/>
        </p:nvSpPr>
        <p:spPr>
          <a:xfrm>
            <a:off x="2424112" y="6473825"/>
            <a:ext cx="708025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COMPUTER ENGINEERING,  Sanjivani COE, Kopargaon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" name="Google Shape;66;p7">
            <a:extLst>
              <a:ext uri="{FF2B5EF4-FFF2-40B4-BE49-F238E27FC236}">
                <a16:creationId xmlns:a16="http://schemas.microsoft.com/office/drawing/2014/main" id="{9B8E3DA6-1031-DFFB-757D-42984C216A8D}"/>
              </a:ext>
            </a:extLst>
          </p:cNvPr>
          <p:cNvSpPr txBox="1"/>
          <p:nvPr/>
        </p:nvSpPr>
        <p:spPr>
          <a:xfrm>
            <a:off x="9767887" y="6537325"/>
            <a:ext cx="15859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" name="Google Shape;67;p7">
            <a:extLst>
              <a:ext uri="{FF2B5EF4-FFF2-40B4-BE49-F238E27FC236}">
                <a16:creationId xmlns:a16="http://schemas.microsoft.com/office/drawing/2014/main" id="{95069D9D-052B-E5DC-E83F-DA48E85D90DE}"/>
              </a:ext>
            </a:extLst>
          </p:cNvPr>
          <p:cNvSpPr txBox="1"/>
          <p:nvPr/>
        </p:nvSpPr>
        <p:spPr>
          <a:xfrm>
            <a:off x="1235226" y="1595957"/>
            <a:ext cx="78876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Font typeface="Times New Roman" panose="02020603050405020304"/>
              <a:buChar char="●"/>
            </a:pPr>
            <a:endParaRPr sz="160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C1D68D-66DB-F37E-1D93-E28838A01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24950"/>
            <a:ext cx="10383372" cy="519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553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BAD6C082-8EF5-216A-CD6A-A0A305899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>
            <a:extLst>
              <a:ext uri="{FF2B5EF4-FFF2-40B4-BE49-F238E27FC236}">
                <a16:creationId xmlns:a16="http://schemas.microsoft.com/office/drawing/2014/main" id="{F8D2A73E-A13D-473A-58CA-07122023E5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5972" y="355975"/>
            <a:ext cx="105156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0000FF"/>
              </a:buClr>
              <a:buSzPts val="2800"/>
            </a:pPr>
            <a:r>
              <a:rPr lang="en-US" sz="2800" dirty="0" err="1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FrontEnd</a:t>
            </a:r>
            <a:r>
              <a:rPr lang="en-US" sz="2800" dirty="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Technology Used</a:t>
            </a: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4" name="Google Shape;64;p7">
            <a:extLst>
              <a:ext uri="{FF2B5EF4-FFF2-40B4-BE49-F238E27FC236}">
                <a16:creationId xmlns:a16="http://schemas.microsoft.com/office/drawing/2014/main" id="{582FE40A-4F63-0228-25EF-E7078DB9C5F3}"/>
              </a:ext>
            </a:extLst>
          </p:cNvPr>
          <p:cNvSpPr txBox="1"/>
          <p:nvPr/>
        </p:nvSpPr>
        <p:spPr>
          <a:xfrm>
            <a:off x="838200" y="6537325"/>
            <a:ext cx="1309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" name="Google Shape;65;p7">
            <a:extLst>
              <a:ext uri="{FF2B5EF4-FFF2-40B4-BE49-F238E27FC236}">
                <a16:creationId xmlns:a16="http://schemas.microsoft.com/office/drawing/2014/main" id="{8E222D41-3952-C731-1D2E-1CC5AEB5AE1F}"/>
              </a:ext>
            </a:extLst>
          </p:cNvPr>
          <p:cNvSpPr txBox="1"/>
          <p:nvPr/>
        </p:nvSpPr>
        <p:spPr>
          <a:xfrm>
            <a:off x="2424112" y="6473825"/>
            <a:ext cx="708025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COMPUTER ENGINEERING,  Sanjivani COE, Kopargaon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" name="Google Shape;66;p7">
            <a:extLst>
              <a:ext uri="{FF2B5EF4-FFF2-40B4-BE49-F238E27FC236}">
                <a16:creationId xmlns:a16="http://schemas.microsoft.com/office/drawing/2014/main" id="{79D9ABCE-83E7-0109-66DF-5DAE62D03623}"/>
              </a:ext>
            </a:extLst>
          </p:cNvPr>
          <p:cNvSpPr txBox="1"/>
          <p:nvPr/>
        </p:nvSpPr>
        <p:spPr>
          <a:xfrm>
            <a:off x="9767887" y="6537325"/>
            <a:ext cx="15859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" name="Google Shape;67;p7">
            <a:extLst>
              <a:ext uri="{FF2B5EF4-FFF2-40B4-BE49-F238E27FC236}">
                <a16:creationId xmlns:a16="http://schemas.microsoft.com/office/drawing/2014/main" id="{7DD9D003-F3EA-6757-4882-B5B37F5734BE}"/>
              </a:ext>
            </a:extLst>
          </p:cNvPr>
          <p:cNvSpPr txBox="1"/>
          <p:nvPr/>
        </p:nvSpPr>
        <p:spPr>
          <a:xfrm>
            <a:off x="1235226" y="1595957"/>
            <a:ext cx="78876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Font typeface="Times New Roman" panose="02020603050405020304"/>
              <a:buChar char="●"/>
            </a:pPr>
            <a:endParaRPr sz="160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3540C2-CA59-E882-588D-02FDEF0161EB}"/>
              </a:ext>
            </a:extLst>
          </p:cNvPr>
          <p:cNvSpPr txBox="1"/>
          <p:nvPr/>
        </p:nvSpPr>
        <p:spPr>
          <a:xfrm>
            <a:off x="1086929" y="1727011"/>
            <a:ext cx="10368950" cy="2819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  <a:latin typeface="+mj-lt"/>
                <a:ea typeface="MS Mincho" panose="02020609040205080304" pitchFamily="49" charset="-128"/>
                <a:cs typeface="Mangal" panose="02040503050203030202" pitchFamily="18" charset="0"/>
              </a:rPr>
              <a:t>HTML5</a:t>
            </a:r>
            <a:r>
              <a:rPr lang="en-US" sz="1600" dirty="0">
                <a:effectLst/>
                <a:latin typeface="+mj-lt"/>
                <a:ea typeface="MS Mincho" panose="02020609040205080304" pitchFamily="49" charset="-128"/>
                <a:cs typeface="Mangal" panose="02040503050203030202" pitchFamily="18" charset="0"/>
              </a:rPr>
              <a:t>: Provides page structure for forms, tables, dashboards, and registration screens.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IN" sz="1600" dirty="0">
              <a:effectLst/>
              <a:latin typeface="+mj-lt"/>
              <a:ea typeface="MS Mincho" panose="02020609040205080304" pitchFamily="49" charset="-128"/>
              <a:cs typeface="Mangal" panose="02040503050203030202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  <a:latin typeface="+mj-lt"/>
                <a:ea typeface="MS Mincho" panose="02020609040205080304" pitchFamily="49" charset="-128"/>
                <a:cs typeface="Mangal" panose="02040503050203030202" pitchFamily="18" charset="0"/>
              </a:rPr>
              <a:t>CSS3 / Bootstrap</a:t>
            </a:r>
            <a:r>
              <a:rPr lang="en-US" sz="1600" dirty="0">
                <a:effectLst/>
                <a:latin typeface="+mj-lt"/>
                <a:ea typeface="MS Mincho" panose="02020609040205080304" pitchFamily="49" charset="-128"/>
                <a:cs typeface="Mangal" panose="02040503050203030202" pitchFamily="18" charset="0"/>
              </a:rPr>
              <a:t>: Used for responsive UI design to ensure a clean layout on mobile and desktop.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IN" sz="1600" dirty="0">
              <a:effectLst/>
              <a:latin typeface="+mj-lt"/>
              <a:ea typeface="MS Mincho" panose="02020609040205080304" pitchFamily="49" charset="-128"/>
              <a:cs typeface="Mangal" panose="02040503050203030202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+mj-lt"/>
                <a:ea typeface="MS Mincho" panose="02020609040205080304" pitchFamily="49" charset="-128"/>
                <a:cs typeface="Mangal" panose="02040503050203030202" pitchFamily="18" charset="0"/>
              </a:rPr>
              <a:t> </a:t>
            </a:r>
            <a:r>
              <a:rPr lang="en-US" sz="1600" b="1" dirty="0">
                <a:effectLst/>
                <a:latin typeface="+mj-lt"/>
                <a:ea typeface="MS Mincho" panose="02020609040205080304" pitchFamily="49" charset="-128"/>
                <a:cs typeface="Mangal" panose="02040503050203030202" pitchFamily="18" charset="0"/>
              </a:rPr>
              <a:t>JavaScript</a:t>
            </a:r>
            <a:r>
              <a:rPr lang="en-US" sz="1600" dirty="0">
                <a:effectLst/>
                <a:latin typeface="+mj-lt"/>
                <a:ea typeface="MS Mincho" panose="02020609040205080304" pitchFamily="49" charset="-128"/>
                <a:cs typeface="Mangal" panose="02040503050203030202" pitchFamily="18" charset="0"/>
              </a:rPr>
              <a:t>: Adds interactivity, form validations, and dynamic updating of data on screens.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IN" sz="1600" dirty="0">
              <a:effectLst/>
              <a:latin typeface="+mj-lt"/>
              <a:ea typeface="MS Mincho" panose="02020609040205080304" pitchFamily="49" charset="-128"/>
              <a:cs typeface="Mangal" panose="02040503050203030202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  <a:latin typeface="+mj-lt"/>
                <a:ea typeface="MS Mincho" panose="02020609040205080304" pitchFamily="49" charset="-128"/>
                <a:cs typeface="Mangal" panose="02040503050203030202" pitchFamily="18" charset="0"/>
              </a:rPr>
              <a:t>React.js</a:t>
            </a:r>
            <a:r>
              <a:rPr lang="en-US" sz="1600" dirty="0">
                <a:effectLst/>
                <a:latin typeface="+mj-lt"/>
                <a:ea typeface="MS Mincho" panose="02020609040205080304" pitchFamily="49" charset="-128"/>
                <a:cs typeface="Mangal" panose="02040503050203030202" pitchFamily="18" charset="0"/>
              </a:rPr>
              <a:t>:  </a:t>
            </a:r>
            <a:r>
              <a:rPr lang="en-US" sz="1600" dirty="0">
                <a:latin typeface="+mj-lt"/>
                <a:ea typeface="MS Mincho" panose="02020609040205080304" pitchFamily="49" charset="-128"/>
                <a:cs typeface="Mangal" panose="02040503050203030202" pitchFamily="18" charset="0"/>
              </a:rPr>
              <a:t>U</a:t>
            </a:r>
            <a:r>
              <a:rPr lang="en-US" sz="1600" dirty="0">
                <a:effectLst/>
                <a:latin typeface="+mj-lt"/>
                <a:ea typeface="MS Mincho" panose="02020609040205080304" pitchFamily="49" charset="-128"/>
                <a:cs typeface="Mangal" panose="02040503050203030202" pitchFamily="18" charset="0"/>
              </a:rPr>
              <a:t>sed to build a more interactive and real-time dashboard for admin and staff.</a:t>
            </a:r>
            <a:endParaRPr lang="en-IN" sz="1600" dirty="0">
              <a:effectLst/>
              <a:latin typeface="+mj-lt"/>
              <a:ea typeface="MS Mincho" panose="02020609040205080304" pitchFamily="49" charset="-128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737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42CABC4C-E96A-101C-77C3-FB913EAA8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>
            <a:extLst>
              <a:ext uri="{FF2B5EF4-FFF2-40B4-BE49-F238E27FC236}">
                <a16:creationId xmlns:a16="http://schemas.microsoft.com/office/drawing/2014/main" id="{F6E6D771-F86F-43F9-A8B6-A1184B3C05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5972" y="355975"/>
            <a:ext cx="105156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0000FF"/>
              </a:buClr>
              <a:buSzPts val="2800"/>
            </a:pP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Frontend Key Features</a:t>
            </a:r>
            <a:endParaRPr sz="28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64" name="Google Shape;64;p7">
            <a:extLst>
              <a:ext uri="{FF2B5EF4-FFF2-40B4-BE49-F238E27FC236}">
                <a16:creationId xmlns:a16="http://schemas.microsoft.com/office/drawing/2014/main" id="{21BDF9F6-DF95-F3B3-D01B-6E4044D8C7D3}"/>
              </a:ext>
            </a:extLst>
          </p:cNvPr>
          <p:cNvSpPr txBox="1"/>
          <p:nvPr/>
        </p:nvSpPr>
        <p:spPr>
          <a:xfrm>
            <a:off x="838200" y="6537325"/>
            <a:ext cx="1309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" name="Google Shape;65;p7">
            <a:extLst>
              <a:ext uri="{FF2B5EF4-FFF2-40B4-BE49-F238E27FC236}">
                <a16:creationId xmlns:a16="http://schemas.microsoft.com/office/drawing/2014/main" id="{2896B5D3-06CC-748C-E4EA-09AF8DAD5411}"/>
              </a:ext>
            </a:extLst>
          </p:cNvPr>
          <p:cNvSpPr txBox="1"/>
          <p:nvPr/>
        </p:nvSpPr>
        <p:spPr>
          <a:xfrm>
            <a:off x="2424112" y="6473825"/>
            <a:ext cx="708025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COMPUTER ENGINEERING,  Sanjivani COE, Kopargaon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" name="Google Shape;66;p7">
            <a:extLst>
              <a:ext uri="{FF2B5EF4-FFF2-40B4-BE49-F238E27FC236}">
                <a16:creationId xmlns:a16="http://schemas.microsoft.com/office/drawing/2014/main" id="{DD9FD67D-84B6-BD45-DB1F-6139C34F3E39}"/>
              </a:ext>
            </a:extLst>
          </p:cNvPr>
          <p:cNvSpPr txBox="1"/>
          <p:nvPr/>
        </p:nvSpPr>
        <p:spPr>
          <a:xfrm>
            <a:off x="9767887" y="6537325"/>
            <a:ext cx="15859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" name="Google Shape;67;p7">
            <a:extLst>
              <a:ext uri="{FF2B5EF4-FFF2-40B4-BE49-F238E27FC236}">
                <a16:creationId xmlns:a16="http://schemas.microsoft.com/office/drawing/2014/main" id="{D4EF506C-D9FF-AFF8-EF0B-1036B15F7315}"/>
              </a:ext>
            </a:extLst>
          </p:cNvPr>
          <p:cNvSpPr txBox="1"/>
          <p:nvPr/>
        </p:nvSpPr>
        <p:spPr>
          <a:xfrm>
            <a:off x="1235226" y="1595957"/>
            <a:ext cx="788760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Responsive design supporting mobile &amp; desktop.</a:t>
            </a:r>
          </a:p>
          <a:p>
            <a:pPr marL="285750" indent="-285750">
              <a:buFontTx/>
              <a:buChar char="-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Validation for customer, farmer, and milk record entries.</a:t>
            </a:r>
          </a:p>
          <a:p>
            <a:pPr marL="285750" indent="-285750">
              <a:buFontTx/>
              <a:buChar char="-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Dashboard with summary cards (Daily Milk In, Milk Out, Stock Balance).</a:t>
            </a:r>
          </a:p>
          <a:p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Charts for graphical representation of monthly milk collection &amp; supply trends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944385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6F35BCA5-8746-A524-DA8F-8C5F51CAA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>
            <a:extLst>
              <a:ext uri="{FF2B5EF4-FFF2-40B4-BE49-F238E27FC236}">
                <a16:creationId xmlns:a16="http://schemas.microsoft.com/office/drawing/2014/main" id="{57AC5024-E027-605E-6429-79EA817068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5972" y="355975"/>
            <a:ext cx="105156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0000FF"/>
              </a:buClr>
              <a:buSzPts val="2800"/>
            </a:pP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Backend Technology Used</a:t>
            </a: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4" name="Google Shape;64;p7">
            <a:extLst>
              <a:ext uri="{FF2B5EF4-FFF2-40B4-BE49-F238E27FC236}">
                <a16:creationId xmlns:a16="http://schemas.microsoft.com/office/drawing/2014/main" id="{A9470BA7-8708-9C50-696D-FF8BA566FAEB}"/>
              </a:ext>
            </a:extLst>
          </p:cNvPr>
          <p:cNvSpPr txBox="1"/>
          <p:nvPr/>
        </p:nvSpPr>
        <p:spPr>
          <a:xfrm>
            <a:off x="838200" y="6537325"/>
            <a:ext cx="1309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" name="Google Shape;65;p7">
            <a:extLst>
              <a:ext uri="{FF2B5EF4-FFF2-40B4-BE49-F238E27FC236}">
                <a16:creationId xmlns:a16="http://schemas.microsoft.com/office/drawing/2014/main" id="{72D53515-D79C-0335-41CE-43179843AB45}"/>
              </a:ext>
            </a:extLst>
          </p:cNvPr>
          <p:cNvSpPr txBox="1"/>
          <p:nvPr/>
        </p:nvSpPr>
        <p:spPr>
          <a:xfrm>
            <a:off x="2424112" y="6473825"/>
            <a:ext cx="708025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COMPUTER ENGINEERING,  Sanjivani COE, Kopargaon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" name="Google Shape;66;p7">
            <a:extLst>
              <a:ext uri="{FF2B5EF4-FFF2-40B4-BE49-F238E27FC236}">
                <a16:creationId xmlns:a16="http://schemas.microsoft.com/office/drawing/2014/main" id="{C039A1A4-458B-F6DC-B279-B23E621EDD6D}"/>
              </a:ext>
            </a:extLst>
          </p:cNvPr>
          <p:cNvSpPr txBox="1"/>
          <p:nvPr/>
        </p:nvSpPr>
        <p:spPr>
          <a:xfrm>
            <a:off x="9767887" y="6537325"/>
            <a:ext cx="15859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" name="Google Shape;67;p7">
            <a:extLst>
              <a:ext uri="{FF2B5EF4-FFF2-40B4-BE49-F238E27FC236}">
                <a16:creationId xmlns:a16="http://schemas.microsoft.com/office/drawing/2014/main" id="{A757D9E9-8962-CF7B-7082-CF15F91A46B5}"/>
              </a:ext>
            </a:extLst>
          </p:cNvPr>
          <p:cNvSpPr txBox="1"/>
          <p:nvPr/>
        </p:nvSpPr>
        <p:spPr>
          <a:xfrm>
            <a:off x="1235225" y="1595957"/>
            <a:ext cx="9938857" cy="323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Node.js with Express.js: Handles server logic, API endpoints, authentication, and communication with the database.</a:t>
            </a:r>
          </a:p>
          <a:p>
            <a:endParaRPr lang="en-US" sz="1800" dirty="0"/>
          </a:p>
          <a:p>
            <a:pPr marL="285750" indent="-285750">
              <a:buFontTx/>
              <a:buChar char="-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MySQL: Database for storing customer, farmer, milk records, stock, and reports.</a:t>
            </a:r>
          </a:p>
          <a:p>
            <a:endParaRPr lang="en-US" sz="1800" dirty="0"/>
          </a:p>
          <a:p>
            <a:pPr marL="285750" indent="-285750">
              <a:buFontTx/>
              <a:buChar char="-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RESTful APIs: Allows smooth data exchange between frontend and backend.</a:t>
            </a:r>
          </a:p>
          <a:p>
            <a:endParaRPr lang="en-US" sz="1800" dirty="0"/>
          </a:p>
          <a:p>
            <a:pPr marL="285750" indent="-285750">
              <a:buFontTx/>
              <a:buChar char="-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JWT Authentication: Secures user login and role-based access (Admin/Staff).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047440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A81C876C-46BC-22DA-1B70-0A2806715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>
            <a:extLst>
              <a:ext uri="{FF2B5EF4-FFF2-40B4-BE49-F238E27FC236}">
                <a16:creationId xmlns:a16="http://schemas.microsoft.com/office/drawing/2014/main" id="{37C3874C-0F0F-35D8-17BF-11CCAEB853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5972" y="355975"/>
            <a:ext cx="105156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0000FF"/>
              </a:buClr>
              <a:buSzPts val="2800"/>
            </a:pP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Backend Functionality</a:t>
            </a: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4" name="Google Shape;64;p7">
            <a:extLst>
              <a:ext uri="{FF2B5EF4-FFF2-40B4-BE49-F238E27FC236}">
                <a16:creationId xmlns:a16="http://schemas.microsoft.com/office/drawing/2014/main" id="{F21BAE16-91C3-5993-B528-EA19486055E3}"/>
              </a:ext>
            </a:extLst>
          </p:cNvPr>
          <p:cNvSpPr txBox="1"/>
          <p:nvPr/>
        </p:nvSpPr>
        <p:spPr>
          <a:xfrm>
            <a:off x="838200" y="6537325"/>
            <a:ext cx="1309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" name="Google Shape;65;p7">
            <a:extLst>
              <a:ext uri="{FF2B5EF4-FFF2-40B4-BE49-F238E27FC236}">
                <a16:creationId xmlns:a16="http://schemas.microsoft.com/office/drawing/2014/main" id="{44CEA96E-1093-8FFF-7D82-0A4A51074E2F}"/>
              </a:ext>
            </a:extLst>
          </p:cNvPr>
          <p:cNvSpPr txBox="1"/>
          <p:nvPr/>
        </p:nvSpPr>
        <p:spPr>
          <a:xfrm>
            <a:off x="2424112" y="6473825"/>
            <a:ext cx="708025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COMPUTER ENGINEERING,  Sanjivani COE, Kopargaon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" name="Google Shape;66;p7">
            <a:extLst>
              <a:ext uri="{FF2B5EF4-FFF2-40B4-BE49-F238E27FC236}">
                <a16:creationId xmlns:a16="http://schemas.microsoft.com/office/drawing/2014/main" id="{712C2A66-CC8D-7D66-56D7-EED1AD9762F4}"/>
              </a:ext>
            </a:extLst>
          </p:cNvPr>
          <p:cNvSpPr txBox="1"/>
          <p:nvPr/>
        </p:nvSpPr>
        <p:spPr>
          <a:xfrm>
            <a:off x="9767887" y="6537325"/>
            <a:ext cx="15859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" name="Google Shape;67;p7">
            <a:extLst>
              <a:ext uri="{FF2B5EF4-FFF2-40B4-BE49-F238E27FC236}">
                <a16:creationId xmlns:a16="http://schemas.microsoft.com/office/drawing/2014/main" id="{D87D2038-316C-D666-90BD-7BFC5C59614C}"/>
              </a:ext>
            </a:extLst>
          </p:cNvPr>
          <p:cNvSpPr txBox="1"/>
          <p:nvPr/>
        </p:nvSpPr>
        <p:spPr>
          <a:xfrm>
            <a:off x="1235226" y="1595957"/>
            <a:ext cx="78876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Font typeface="Times New Roman" panose="02020603050405020304"/>
              <a:buChar char="●"/>
            </a:pPr>
            <a:endParaRPr sz="160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7A1E90-751A-FF61-B7FE-D0B3447D0EFB}"/>
              </a:ext>
            </a:extLst>
          </p:cNvPr>
          <p:cNvSpPr txBox="1"/>
          <p:nvPr/>
        </p:nvSpPr>
        <p:spPr>
          <a:xfrm>
            <a:off x="1286774" y="1939188"/>
            <a:ext cx="7966494" cy="306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Mangal" panose="02040503050203030202" pitchFamily="18" charset="0"/>
              </a:rPr>
              <a:t>CRUD operations for customer, farmer, and stock records.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IN" sz="1800" dirty="0">
              <a:latin typeface="Cambria" panose="02040503050406030204" pitchFamily="18" charset="0"/>
              <a:ea typeface="MS Mincho" panose="02020609040205080304" pitchFamily="49" charset="-128"/>
              <a:cs typeface="Mangal" panose="02040503050203030202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Mangal" panose="02040503050203030202" pitchFamily="18" charset="0"/>
              </a:rPr>
              <a:t>Validate and store milk collection and supply data.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I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Mangal" panose="02040503050203030202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Mangal" panose="02040503050203030202" pitchFamily="18" charset="0"/>
              </a:rPr>
              <a:t>Generate reports from stored data.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I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Mangal" panose="02040503050203030202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Mangal" panose="02040503050203030202" pitchFamily="18" charset="0"/>
              </a:rPr>
              <a:t>Protect API routes using role-based authentication.</a:t>
            </a:r>
            <a:endParaRPr lang="en-I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092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7B1D6A05-B2DC-2268-B0EF-9D14E786C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>
            <a:extLst>
              <a:ext uri="{FF2B5EF4-FFF2-40B4-BE49-F238E27FC236}">
                <a16:creationId xmlns:a16="http://schemas.microsoft.com/office/drawing/2014/main" id="{8AF8DDF8-4A0B-E468-15CB-77C1B0FBE0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5972" y="355975"/>
            <a:ext cx="105156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0000FF"/>
              </a:buClr>
              <a:buSzPts val="2800"/>
            </a:pPr>
            <a:r>
              <a:rPr 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Conclusion</a:t>
            </a:r>
            <a:endParaRPr sz="28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4" name="Google Shape;64;p7">
            <a:extLst>
              <a:ext uri="{FF2B5EF4-FFF2-40B4-BE49-F238E27FC236}">
                <a16:creationId xmlns:a16="http://schemas.microsoft.com/office/drawing/2014/main" id="{8A26BB97-3148-0E28-8C96-E4C3DDC0531C}"/>
              </a:ext>
            </a:extLst>
          </p:cNvPr>
          <p:cNvSpPr txBox="1"/>
          <p:nvPr/>
        </p:nvSpPr>
        <p:spPr>
          <a:xfrm>
            <a:off x="838200" y="6537325"/>
            <a:ext cx="1309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" name="Google Shape;65;p7">
            <a:extLst>
              <a:ext uri="{FF2B5EF4-FFF2-40B4-BE49-F238E27FC236}">
                <a16:creationId xmlns:a16="http://schemas.microsoft.com/office/drawing/2014/main" id="{4BA041BD-F51B-409B-0772-7D0793030661}"/>
              </a:ext>
            </a:extLst>
          </p:cNvPr>
          <p:cNvSpPr txBox="1"/>
          <p:nvPr/>
        </p:nvSpPr>
        <p:spPr>
          <a:xfrm>
            <a:off x="2424112" y="6473825"/>
            <a:ext cx="708025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COMPUTER ENGINEERING,  Sanjivani COE, Kopargaon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" name="Google Shape;66;p7">
            <a:extLst>
              <a:ext uri="{FF2B5EF4-FFF2-40B4-BE49-F238E27FC236}">
                <a16:creationId xmlns:a16="http://schemas.microsoft.com/office/drawing/2014/main" id="{C0C38D82-0564-56A0-98E1-360C3FEC22CE}"/>
              </a:ext>
            </a:extLst>
          </p:cNvPr>
          <p:cNvSpPr txBox="1"/>
          <p:nvPr/>
        </p:nvSpPr>
        <p:spPr>
          <a:xfrm>
            <a:off x="9767887" y="6537325"/>
            <a:ext cx="15859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" name="Google Shape;67;p7">
            <a:extLst>
              <a:ext uri="{FF2B5EF4-FFF2-40B4-BE49-F238E27FC236}">
                <a16:creationId xmlns:a16="http://schemas.microsoft.com/office/drawing/2014/main" id="{74F7B70D-4354-BC66-62A6-285831AEBB5D}"/>
              </a:ext>
            </a:extLst>
          </p:cNvPr>
          <p:cNvSpPr txBox="1"/>
          <p:nvPr/>
        </p:nvSpPr>
        <p:spPr>
          <a:xfrm>
            <a:off x="1235226" y="1595957"/>
            <a:ext cx="78876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Font typeface="Times New Roman" panose="02020603050405020304"/>
              <a:buChar char="●"/>
            </a:pPr>
            <a:endParaRPr sz="160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768817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>
          <a:extLst>
            <a:ext uri="{FF2B5EF4-FFF2-40B4-BE49-F238E27FC236}">
              <a16:creationId xmlns:a16="http://schemas.microsoft.com/office/drawing/2014/main" id="{57F4D615-A8D8-C535-EE71-707AB5D4E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>
            <a:extLst>
              <a:ext uri="{FF2B5EF4-FFF2-40B4-BE49-F238E27FC236}">
                <a16:creationId xmlns:a16="http://schemas.microsoft.com/office/drawing/2014/main" id="{328B713F-7970-76A7-BD1A-700C0D9C10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5972" y="355975"/>
            <a:ext cx="105156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Calibri" panose="020F0502020204030204"/>
              <a:buNone/>
            </a:pP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4" name="Google Shape;64;p7">
            <a:extLst>
              <a:ext uri="{FF2B5EF4-FFF2-40B4-BE49-F238E27FC236}">
                <a16:creationId xmlns:a16="http://schemas.microsoft.com/office/drawing/2014/main" id="{75FBA9E2-67A4-F215-4CB9-D149E5A000C2}"/>
              </a:ext>
            </a:extLst>
          </p:cNvPr>
          <p:cNvSpPr txBox="1"/>
          <p:nvPr/>
        </p:nvSpPr>
        <p:spPr>
          <a:xfrm>
            <a:off x="838200" y="6537325"/>
            <a:ext cx="130968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" name="Google Shape;65;p7">
            <a:extLst>
              <a:ext uri="{FF2B5EF4-FFF2-40B4-BE49-F238E27FC236}">
                <a16:creationId xmlns:a16="http://schemas.microsoft.com/office/drawing/2014/main" id="{4F903AA5-FCA4-F3F4-8CE6-29C99E0FC330}"/>
              </a:ext>
            </a:extLst>
          </p:cNvPr>
          <p:cNvSpPr txBox="1"/>
          <p:nvPr/>
        </p:nvSpPr>
        <p:spPr>
          <a:xfrm>
            <a:off x="2424112" y="6473825"/>
            <a:ext cx="7080250" cy="45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 panose="020F0502020204030204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DEPARTMENT OF COMPUTER ENGINEERING,  Sanjivani COE, Kopargaon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" name="Google Shape;66;p7">
            <a:extLst>
              <a:ext uri="{FF2B5EF4-FFF2-40B4-BE49-F238E27FC236}">
                <a16:creationId xmlns:a16="http://schemas.microsoft.com/office/drawing/2014/main" id="{E4F7F639-6AE3-7995-8F49-647E3ABE88FA}"/>
              </a:ext>
            </a:extLst>
          </p:cNvPr>
          <p:cNvSpPr txBox="1"/>
          <p:nvPr/>
        </p:nvSpPr>
        <p:spPr>
          <a:xfrm>
            <a:off x="9767887" y="6537325"/>
            <a:ext cx="15859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 panose="020F0502020204030204"/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" name="Google Shape;67;p7">
            <a:extLst>
              <a:ext uri="{FF2B5EF4-FFF2-40B4-BE49-F238E27FC236}">
                <a16:creationId xmlns:a16="http://schemas.microsoft.com/office/drawing/2014/main" id="{A2FD4410-30AE-79B0-7481-0C07E25C0A77}"/>
              </a:ext>
            </a:extLst>
          </p:cNvPr>
          <p:cNvSpPr txBox="1"/>
          <p:nvPr/>
        </p:nvSpPr>
        <p:spPr>
          <a:xfrm>
            <a:off x="1235226" y="1595957"/>
            <a:ext cx="7887600" cy="96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Font typeface="Times New Roman" panose="02020603050405020304"/>
              <a:buChar char="●"/>
            </a:pPr>
            <a:endParaRPr sz="160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3AEC0E-9782-6415-93D6-7EEBBBE92274}"/>
              </a:ext>
            </a:extLst>
          </p:cNvPr>
          <p:cNvSpPr txBox="1"/>
          <p:nvPr/>
        </p:nvSpPr>
        <p:spPr>
          <a:xfrm>
            <a:off x="368300" y="2689574"/>
            <a:ext cx="106807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0070C0"/>
                </a:solidFill>
              </a:rPr>
              <a:t>THANK YOU</a:t>
            </a:r>
            <a:endParaRPr lang="en-IN" sz="6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09174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718</Words>
  <Application>Microsoft Office PowerPoint</Application>
  <PresentationFormat>Widescreen</PresentationFormat>
  <Paragraphs>152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Cambria</vt:lpstr>
      <vt:lpstr>Times New Roman</vt:lpstr>
      <vt:lpstr>1_Office Theme</vt:lpstr>
      <vt:lpstr>2_Office Theme</vt:lpstr>
      <vt:lpstr>PowerPoint Presentation</vt:lpstr>
      <vt:lpstr>Client Details</vt:lpstr>
      <vt:lpstr>Client Requirements</vt:lpstr>
      <vt:lpstr>Functional Requirement </vt:lpstr>
      <vt:lpstr>System Flow</vt:lpstr>
      <vt:lpstr>Login  Page</vt:lpstr>
      <vt:lpstr>Admin Dashboard</vt:lpstr>
      <vt:lpstr>Milk Collection Management</vt:lpstr>
      <vt:lpstr>PowerPoint Presentation</vt:lpstr>
      <vt:lpstr>PowerPoint Presentation</vt:lpstr>
      <vt:lpstr>Feed Management System</vt:lpstr>
      <vt:lpstr>PowerPoint Presentation</vt:lpstr>
      <vt:lpstr>Farmer Profile Management</vt:lpstr>
      <vt:lpstr>PowerPoint Presentation</vt:lpstr>
      <vt:lpstr>FrontEnd Technology Used</vt:lpstr>
      <vt:lpstr>Frontend Key Features</vt:lpstr>
      <vt:lpstr>Backend Technology Used</vt:lpstr>
      <vt:lpstr>Backend Functionality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Tanmay Shinde</cp:lastModifiedBy>
  <cp:revision>10</cp:revision>
  <dcterms:created xsi:type="dcterms:W3CDTF">2025-10-03T14:53:31Z</dcterms:created>
  <dcterms:modified xsi:type="dcterms:W3CDTF">2025-11-06T05:36:06Z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FEB5BAD2D04342BC8EE2F030C14B02E8_12</vt:lpwstr>
  </property>
  <property fmtid="{D5CDD505-2E9C-101B-9397-08002B2CF9AE}" pid="3" name="KSOProductBuildVer">
    <vt:lpwstr>1033-12.2.0.22549</vt:lpwstr>
  </property>
</Properties>
</file>